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59" r:id="rId3"/>
    <p:sldId id="265" r:id="rId4"/>
    <p:sldId id="266" r:id="rId5"/>
    <p:sldId id="286" r:id="rId6"/>
    <p:sldId id="287" r:id="rId7"/>
    <p:sldId id="288" r:id="rId8"/>
    <p:sldId id="302" r:id="rId9"/>
    <p:sldId id="289" r:id="rId10"/>
    <p:sldId id="267" r:id="rId11"/>
    <p:sldId id="290" r:id="rId12"/>
    <p:sldId id="291" r:id="rId13"/>
    <p:sldId id="292" r:id="rId14"/>
    <p:sldId id="293" r:id="rId15"/>
    <p:sldId id="294" r:id="rId16"/>
    <p:sldId id="301" r:id="rId17"/>
    <p:sldId id="299" r:id="rId18"/>
    <p:sldId id="300" r:id="rId19"/>
    <p:sldId id="276" r:id="rId20"/>
    <p:sldId id="298" r:id="rId21"/>
    <p:sldId id="295" r:id="rId22"/>
    <p:sldId id="296" r:id="rId23"/>
    <p:sldId id="29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p:cViewPr varScale="1">
        <p:scale>
          <a:sx n="78" d="100"/>
          <a:sy n="78" d="100"/>
        </p:scale>
        <p:origin x="1618"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998CF8-43E5-4CAB-8281-C8E9B647DEAB}" type="datetimeFigureOut">
              <a:rPr lang="en-IN" smtClean="0"/>
              <a:t>01-07-2026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6E4E75-A405-454A-986E-653D311DAF25}" type="slidenum">
              <a:rPr lang="en-IN" smtClean="0"/>
              <a:t>‹#›</a:t>
            </a:fld>
            <a:endParaRPr lang="en-IN"/>
          </a:p>
        </p:txBody>
      </p:sp>
    </p:spTree>
    <p:extLst>
      <p:ext uri="{BB962C8B-B14F-4D97-AF65-F5344CB8AC3E}">
        <p14:creationId xmlns:p14="http://schemas.microsoft.com/office/powerpoint/2010/main" val="2375943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F1A585-8F27-4C80-959C-A6E47EF0AC23}" type="slidenum">
              <a:rPr lang="en-US" smtClean="0"/>
              <a:t>2</a:t>
            </a:fld>
            <a:endParaRPr lang="en-US"/>
          </a:p>
        </p:txBody>
      </p:sp>
    </p:spTree>
    <p:extLst>
      <p:ext uri="{BB962C8B-B14F-4D97-AF65-F5344CB8AC3E}">
        <p14:creationId xmlns:p14="http://schemas.microsoft.com/office/powerpoint/2010/main" val="3145849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F1A585-8F27-4C80-959C-A6E47EF0AC23}" type="slidenum">
              <a:rPr lang="en-US" smtClean="0"/>
              <a:t>3</a:t>
            </a:fld>
            <a:endParaRPr lang="en-US"/>
          </a:p>
        </p:txBody>
      </p:sp>
    </p:spTree>
    <p:extLst>
      <p:ext uri="{BB962C8B-B14F-4D97-AF65-F5344CB8AC3E}">
        <p14:creationId xmlns:p14="http://schemas.microsoft.com/office/powerpoint/2010/main" val="168261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F1A585-8F27-4C80-959C-A6E47EF0AC23}" type="slidenum">
              <a:rPr lang="en-US" smtClean="0"/>
              <a:t>4</a:t>
            </a:fld>
            <a:endParaRPr lang="en-US"/>
          </a:p>
        </p:txBody>
      </p:sp>
    </p:spTree>
    <p:extLst>
      <p:ext uri="{BB962C8B-B14F-4D97-AF65-F5344CB8AC3E}">
        <p14:creationId xmlns:p14="http://schemas.microsoft.com/office/powerpoint/2010/main" val="1037814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F56B9-FCE3-F9B1-2879-EA6E5BCD3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96E7C-370D-B26F-6FC0-9C19901E3E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0591078-D27F-4CA0-588F-70BF9D6EFA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DC13AE-8D9B-5212-4A00-16B6843F202A}"/>
              </a:ext>
            </a:extLst>
          </p:cNvPr>
          <p:cNvSpPr>
            <a:spLocks noGrp="1"/>
          </p:cNvSpPr>
          <p:nvPr>
            <p:ph type="sldNum" sz="quarter" idx="10"/>
          </p:nvPr>
        </p:nvSpPr>
        <p:spPr/>
        <p:txBody>
          <a:bodyPr/>
          <a:lstStyle/>
          <a:p>
            <a:fld id="{C4F1A585-8F27-4C80-959C-A6E47EF0AC23}" type="slidenum">
              <a:rPr lang="en-US" smtClean="0"/>
              <a:t>10</a:t>
            </a:fld>
            <a:endParaRPr lang="en-US"/>
          </a:p>
        </p:txBody>
      </p:sp>
    </p:spTree>
    <p:extLst>
      <p:ext uri="{BB962C8B-B14F-4D97-AF65-F5344CB8AC3E}">
        <p14:creationId xmlns:p14="http://schemas.microsoft.com/office/powerpoint/2010/main" val="3521313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4149A-EDDA-C545-3FF5-E9F51E424B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53FB02-5F35-D77E-1826-133599496CD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E0596AD-41EE-4141-04A0-539375D4DC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7D8322-F78F-2B15-897C-68DBC5DAE0F0}"/>
              </a:ext>
            </a:extLst>
          </p:cNvPr>
          <p:cNvSpPr>
            <a:spLocks noGrp="1"/>
          </p:cNvSpPr>
          <p:nvPr>
            <p:ph type="sldNum" sz="quarter" idx="10"/>
          </p:nvPr>
        </p:nvSpPr>
        <p:spPr/>
        <p:txBody>
          <a:bodyPr/>
          <a:lstStyle/>
          <a:p>
            <a:fld id="{C4F1A585-8F27-4C80-959C-A6E47EF0AC23}" type="slidenum">
              <a:rPr lang="en-US" smtClean="0"/>
              <a:t>19</a:t>
            </a:fld>
            <a:endParaRPr lang="en-US"/>
          </a:p>
        </p:txBody>
      </p:sp>
    </p:spTree>
    <p:extLst>
      <p:ext uri="{BB962C8B-B14F-4D97-AF65-F5344CB8AC3E}">
        <p14:creationId xmlns:p14="http://schemas.microsoft.com/office/powerpoint/2010/main" val="2433971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3DE2BAF-8E21-4DDA-B942-7F480C52FA47}"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572621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3DE2BAF-8E21-4DDA-B942-7F480C52FA47}"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2658653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E2BAF-8E21-4DDA-B942-7F480C52FA47}"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963451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3DE2BAF-8E21-4DDA-B942-7F480C52FA47}"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3458131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3DE2BAF-8E21-4DDA-B942-7F480C52FA47}" type="datetimeFigureOut">
              <a:rPr lang="en-IN" smtClean="0"/>
              <a:t>01-07-2026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268392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3DE2BAF-8E21-4DDA-B942-7F480C52FA47}" type="datetimeFigureOut">
              <a:rPr lang="en-IN" smtClean="0"/>
              <a:t>01-07-2026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400541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DE2BAF-8E21-4DDA-B942-7F480C52FA47}" type="datetimeFigureOut">
              <a:rPr lang="en-IN" smtClean="0"/>
              <a:t>01-07-2026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3660812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DE2BAF-8E21-4DDA-B942-7F480C52FA47}"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2315158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DE2BAF-8E21-4DDA-B942-7F480C52FA47}"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2848624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3DE2BAF-8E21-4DDA-B942-7F480C52FA47}"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1979986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3DE2BAF-8E21-4DDA-B942-7F480C52FA47}"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1571725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DE2BAF-8E21-4DDA-B942-7F480C52FA47}" type="datetimeFigureOut">
              <a:rPr lang="en-IN" smtClean="0"/>
              <a:t>01-07-2026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DBFA25-01C5-4EBA-B4F6-ED9B835310D7}" type="slidenum">
              <a:rPr lang="en-IN" smtClean="0"/>
              <a:t>‹#›</a:t>
            </a:fld>
            <a:endParaRPr lang="en-IN"/>
          </a:p>
        </p:txBody>
      </p:sp>
    </p:spTree>
    <p:extLst>
      <p:ext uri="{BB962C8B-B14F-4D97-AF65-F5344CB8AC3E}">
        <p14:creationId xmlns:p14="http://schemas.microsoft.com/office/powerpoint/2010/main" val="251563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9144000" cy="1944914"/>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3" name="Subtitle 2"/>
          <p:cNvSpPr>
            <a:spLocks noGrp="1"/>
          </p:cNvSpPr>
          <p:nvPr>
            <p:ph type="subTitle" idx="1"/>
          </p:nvPr>
        </p:nvSpPr>
        <p:spPr>
          <a:xfrm>
            <a:off x="0" y="0"/>
            <a:ext cx="9144000" cy="6858000"/>
          </a:xfrm>
        </p:spPr>
        <p:txBody>
          <a:bodyPr>
            <a:normAutofit fontScale="85000" lnSpcReduction="20000"/>
          </a:bodyPr>
          <a:lstStyle/>
          <a:p>
            <a:pPr>
              <a:lnSpc>
                <a:spcPct val="120000"/>
              </a:lnSpc>
              <a:spcBef>
                <a:spcPts val="0"/>
              </a:spcBef>
            </a:pPr>
            <a:r>
              <a:rPr lang="en-US" b="1" dirty="0">
                <a:solidFill>
                  <a:schemeClr val="bg1"/>
                </a:solidFill>
                <a:latin typeface="Times New Roman" panose="02020603050405020304" pitchFamily="18" charset="0"/>
                <a:cs typeface="Times New Roman" panose="02020603050405020304" pitchFamily="18" charset="0"/>
              </a:rPr>
              <a:t>KJEI’s</a:t>
            </a:r>
          </a:p>
          <a:p>
            <a:pPr>
              <a:lnSpc>
                <a:spcPct val="120000"/>
              </a:lnSpc>
              <a:spcBef>
                <a:spcPts val="0"/>
              </a:spcBef>
            </a:pPr>
            <a:r>
              <a:rPr lang="en-US" sz="2600" b="1" dirty="0">
                <a:solidFill>
                  <a:schemeClr val="bg1"/>
                </a:solidFill>
                <a:latin typeface="Times New Roman" panose="02020603050405020304" pitchFamily="18" charset="0"/>
                <a:cs typeface="Times New Roman" panose="02020603050405020304" pitchFamily="18" charset="0"/>
              </a:rPr>
              <a:t>K J College of Engineering &amp; Management Research, Pune</a:t>
            </a:r>
          </a:p>
          <a:p>
            <a:pPr>
              <a:lnSpc>
                <a:spcPct val="120000"/>
              </a:lnSpc>
              <a:spcBef>
                <a:spcPts val="0"/>
              </a:spcBef>
            </a:pPr>
            <a:r>
              <a:rPr lang="en-US" b="1" u="sng" dirty="0">
                <a:solidFill>
                  <a:srgbClr val="F58B3B"/>
                </a:solidFill>
                <a:latin typeface="Times New Roman" panose="02020603050405020304" pitchFamily="18" charset="0"/>
                <a:cs typeface="Times New Roman" panose="02020603050405020304" pitchFamily="18" charset="0"/>
              </a:rPr>
              <a:t>Department of Computer Engineering</a:t>
            </a:r>
          </a:p>
          <a:p>
            <a:pPr>
              <a:lnSpc>
                <a:spcPct val="120000"/>
              </a:lnSpc>
              <a:spcBef>
                <a:spcPts val="0"/>
              </a:spcBef>
            </a:pPr>
            <a:r>
              <a:rPr lang="en-US" b="1" dirty="0" err="1">
                <a:solidFill>
                  <a:schemeClr val="bg1"/>
                </a:solidFill>
                <a:latin typeface="Times New Roman" panose="02020603050405020304" pitchFamily="18" charset="0"/>
                <a:cs typeface="Times New Roman" panose="02020603050405020304" pitchFamily="18" charset="0"/>
              </a:rPr>
              <a:t>Savitribai</a:t>
            </a:r>
            <a:r>
              <a:rPr lang="en-US" b="1" dirty="0">
                <a:solidFill>
                  <a:schemeClr val="bg1"/>
                </a:solidFill>
                <a:latin typeface="Times New Roman" panose="02020603050405020304" pitchFamily="18" charset="0"/>
                <a:cs typeface="Times New Roman" panose="02020603050405020304" pitchFamily="18" charset="0"/>
              </a:rPr>
              <a:t> </a:t>
            </a:r>
            <a:r>
              <a:rPr lang="en-US" b="1" dirty="0" err="1">
                <a:solidFill>
                  <a:schemeClr val="bg1"/>
                </a:solidFill>
                <a:latin typeface="Times New Roman" panose="02020603050405020304" pitchFamily="18" charset="0"/>
                <a:cs typeface="Times New Roman" panose="02020603050405020304" pitchFamily="18" charset="0"/>
              </a:rPr>
              <a:t>Phule</a:t>
            </a:r>
            <a:r>
              <a:rPr lang="en-US" b="1" dirty="0">
                <a:solidFill>
                  <a:schemeClr val="bg1"/>
                </a:solidFill>
                <a:latin typeface="Times New Roman" panose="02020603050405020304" pitchFamily="18" charset="0"/>
                <a:cs typeface="Times New Roman" panose="02020603050405020304" pitchFamily="18" charset="0"/>
              </a:rPr>
              <a:t> Pune University</a:t>
            </a:r>
          </a:p>
          <a:p>
            <a:pPr>
              <a:lnSpc>
                <a:spcPct val="120000"/>
              </a:lnSpc>
              <a:spcBef>
                <a:spcPts val="0"/>
              </a:spcBef>
            </a:pPr>
            <a:endParaRPr lang="en-US" b="1" dirty="0">
              <a:latin typeface="Times New Roman" panose="02020603050405020304" pitchFamily="18" charset="0"/>
              <a:cs typeface="Times New Roman" panose="02020603050405020304" pitchFamily="18" charset="0"/>
            </a:endParaRPr>
          </a:p>
          <a:p>
            <a:pPr>
              <a:lnSpc>
                <a:spcPct val="120000"/>
              </a:lnSpc>
              <a:spcBef>
                <a:spcPts val="0"/>
              </a:spcBef>
            </a:pPr>
            <a:endParaRPr lang="en-US" b="1" dirty="0">
              <a:latin typeface="Times New Roman" panose="02020603050405020304" pitchFamily="18" charset="0"/>
              <a:cs typeface="Times New Roman" panose="02020603050405020304" pitchFamily="18" charset="0"/>
            </a:endParaRPr>
          </a:p>
          <a:p>
            <a:pPr>
              <a:lnSpc>
                <a:spcPct val="120000"/>
              </a:lnSpc>
              <a:spcBef>
                <a:spcPts val="0"/>
              </a:spcBef>
            </a:pPr>
            <a:r>
              <a:rPr lang="en-US" b="1" dirty="0">
                <a:solidFill>
                  <a:schemeClr val="tx1"/>
                </a:solidFill>
                <a:latin typeface="Times New Roman" panose="02020603050405020304" pitchFamily="18" charset="0"/>
                <a:cs typeface="Times New Roman" panose="02020603050405020304" pitchFamily="18" charset="0"/>
              </a:rPr>
              <a:t>Academic Year: 2025-2026</a:t>
            </a:r>
          </a:p>
          <a:p>
            <a:pPr>
              <a:lnSpc>
                <a:spcPct val="120000"/>
              </a:lnSpc>
              <a:spcBef>
                <a:spcPts val="0"/>
              </a:spcBef>
            </a:pPr>
            <a:r>
              <a:rPr lang="en-US" b="1" dirty="0">
                <a:solidFill>
                  <a:schemeClr val="tx1"/>
                </a:solidFill>
                <a:latin typeface="Times New Roman" panose="02020603050405020304" pitchFamily="18" charset="0"/>
                <a:cs typeface="Times New Roman" panose="02020603050405020304" pitchFamily="18" charset="0"/>
              </a:rPr>
              <a:t> Presentation</a:t>
            </a:r>
          </a:p>
          <a:p>
            <a:pPr>
              <a:lnSpc>
                <a:spcPct val="120000"/>
              </a:lnSpc>
              <a:spcBef>
                <a:spcPts val="0"/>
              </a:spcBef>
            </a:pPr>
            <a:r>
              <a:rPr lang="en-US" b="1" dirty="0">
                <a:solidFill>
                  <a:schemeClr val="tx1"/>
                </a:solidFill>
                <a:latin typeface="Times New Roman" panose="02020603050405020304" pitchFamily="18" charset="0"/>
                <a:cs typeface="Times New Roman" panose="02020603050405020304" pitchFamily="18" charset="0"/>
              </a:rPr>
              <a:t>On</a:t>
            </a:r>
          </a:p>
          <a:p>
            <a:pPr>
              <a:lnSpc>
                <a:spcPct val="120000"/>
              </a:lnSpc>
              <a:spcBef>
                <a:spcPts val="0"/>
              </a:spcBef>
            </a:pPr>
            <a:endParaRPr lang="en-US" sz="1800" b="1" dirty="0">
              <a:latin typeface="Times New Roman" panose="02020603050405020304" pitchFamily="18" charset="0"/>
              <a:cs typeface="Times New Roman" panose="02020603050405020304" pitchFamily="18" charset="0"/>
            </a:endParaRPr>
          </a:p>
          <a:p>
            <a:pPr>
              <a:lnSpc>
                <a:spcPct val="120000"/>
              </a:lnSpc>
              <a:spcBef>
                <a:spcPts val="0"/>
              </a:spcBef>
            </a:pPr>
            <a:r>
              <a:rPr lang="en-US" b="1" dirty="0">
                <a:solidFill>
                  <a:srgbClr val="C00000"/>
                </a:solidFill>
                <a:latin typeface="Times New Roman" panose="02020603050405020304" pitchFamily="18" charset="0"/>
                <a:cs typeface="Times New Roman" panose="02020603050405020304" pitchFamily="18" charset="0"/>
              </a:rPr>
              <a:t>A Web Based Smart CNG Reservation System</a:t>
            </a:r>
          </a:p>
          <a:p>
            <a:pPr>
              <a:lnSpc>
                <a:spcPct val="120000"/>
              </a:lnSpc>
              <a:spcBef>
                <a:spcPts val="0"/>
              </a:spcBef>
            </a:pPr>
            <a:endParaRPr lang="en-US" sz="1800" b="1" dirty="0">
              <a:latin typeface="Times New Roman" panose="02020603050405020304" pitchFamily="18" charset="0"/>
              <a:cs typeface="Times New Roman" panose="02020603050405020304" pitchFamily="18" charset="0"/>
            </a:endParaRPr>
          </a:p>
          <a:p>
            <a:pPr>
              <a:lnSpc>
                <a:spcPct val="120000"/>
              </a:lnSpc>
              <a:spcBef>
                <a:spcPts val="0"/>
              </a:spcBef>
            </a:pPr>
            <a:endParaRPr lang="en-US" sz="1800" b="1" dirty="0">
              <a:latin typeface="Times New Roman" panose="02020603050405020304" pitchFamily="18" charset="0"/>
              <a:cs typeface="Times New Roman" panose="02020603050405020304" pitchFamily="18" charset="0"/>
            </a:endParaRPr>
          </a:p>
          <a:p>
            <a:pPr marL="566738" algn="just">
              <a:lnSpc>
                <a:spcPct val="120000"/>
              </a:lnSpc>
              <a:spcBef>
                <a:spcPts val="0"/>
              </a:spcBef>
            </a:pPr>
            <a:r>
              <a:rPr lang="en-US" sz="2000" b="1" dirty="0">
                <a:latin typeface="Times New Roman" panose="02020603050405020304" pitchFamily="18" charset="0"/>
                <a:cs typeface="Times New Roman" panose="02020603050405020304" pitchFamily="18" charset="0"/>
              </a:rPr>
              <a:t>                  Presented By				        Guided By	</a:t>
            </a:r>
          </a:p>
          <a:p>
            <a:pPr marL="909638" indent="-342900" algn="just">
              <a:lnSpc>
                <a:spcPct val="120000"/>
              </a:lnSpc>
              <a:spcBef>
                <a:spcPts val="0"/>
              </a:spcBef>
              <a:buAutoNum type="arabicPeriod"/>
            </a:pPr>
            <a:r>
              <a:rPr lang="en-US" sz="2000" b="1" dirty="0">
                <a:latin typeface="Times New Roman" panose="02020603050405020304" pitchFamily="18" charset="0"/>
                <a:cs typeface="Times New Roman" panose="02020603050405020304" pitchFamily="18" charset="0"/>
              </a:rPr>
              <a:t>Mr. Prathmesh Gaikwad     [B400720164]		Prof. Mayuri Vengurlekar</a:t>
            </a:r>
          </a:p>
          <a:p>
            <a:pPr marL="909638" indent="-342900" algn="just">
              <a:lnSpc>
                <a:spcPct val="120000"/>
              </a:lnSpc>
              <a:spcBef>
                <a:spcPts val="0"/>
              </a:spcBef>
              <a:buAutoNum type="arabicPeriod"/>
            </a:pPr>
            <a:r>
              <a:rPr lang="en-US" sz="2000" b="1" dirty="0">
                <a:latin typeface="Times New Roman" panose="02020603050405020304" pitchFamily="18" charset="0"/>
                <a:cs typeface="Times New Roman" panose="02020603050405020304" pitchFamily="18" charset="0"/>
              </a:rPr>
              <a:t>Mr. Shreyash Jangam          [B400720186] </a:t>
            </a:r>
          </a:p>
          <a:p>
            <a:pPr marL="909638" indent="-342900" algn="just">
              <a:lnSpc>
                <a:spcPct val="120000"/>
              </a:lnSpc>
              <a:spcBef>
                <a:spcPts val="0"/>
              </a:spcBef>
              <a:buAutoNum type="arabicPeriod"/>
            </a:pPr>
            <a:r>
              <a:rPr lang="en-US" sz="2000" b="1" dirty="0">
                <a:latin typeface="Times New Roman" panose="02020603050405020304" pitchFamily="18" charset="0"/>
                <a:cs typeface="Times New Roman" panose="02020603050405020304" pitchFamily="18" charset="0"/>
              </a:rPr>
              <a:t>Ms. Kadambari  Kale          [B400720188]</a:t>
            </a:r>
          </a:p>
          <a:p>
            <a:pPr marL="909638" indent="-342900" algn="just">
              <a:lnSpc>
                <a:spcPct val="120000"/>
              </a:lnSpc>
              <a:spcBef>
                <a:spcPts val="0"/>
              </a:spcBef>
              <a:buFont typeface="Arial" panose="020B0604020202020204" pitchFamily="34" charset="0"/>
              <a:buAutoNum type="arabicPeriod"/>
            </a:pPr>
            <a:r>
              <a:rPr lang="en-US" sz="2000" b="1" dirty="0">
                <a:latin typeface="Times New Roman" panose="02020603050405020304" pitchFamily="18" charset="0"/>
                <a:cs typeface="Times New Roman" panose="02020603050405020304" pitchFamily="18" charset="0"/>
              </a:rPr>
              <a:t>Mr. Sujit Kale                       [B400720190]</a:t>
            </a:r>
          </a:p>
          <a:p>
            <a:pPr marL="566738" algn="just">
              <a:lnSpc>
                <a:spcPct val="120000"/>
              </a:lnSpc>
              <a:spcBef>
                <a:spcPts val="0"/>
              </a:spcBef>
            </a:pPr>
            <a:endParaRPr lang="en-US" sz="2000" b="1" dirty="0">
              <a:latin typeface="Times New Roman" panose="02020603050405020304" pitchFamily="18" charset="0"/>
              <a:cs typeface="Times New Roman" panose="02020603050405020304" pitchFamily="18" charset="0"/>
            </a:endParaRPr>
          </a:p>
          <a:p>
            <a:pPr marL="566738" algn="just">
              <a:lnSpc>
                <a:spcPct val="120000"/>
              </a:lnSpc>
              <a:spcBef>
                <a:spcPts val="0"/>
              </a:spcBef>
            </a:pPr>
            <a:r>
              <a:rPr lang="en-US" sz="20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p:txBody>
      </p:sp>
      <p:pic>
        <p:nvPicPr>
          <p:cNvPr id="4" nam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372411"/>
            <a:ext cx="859122" cy="120009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PPU's courses on Swayam platform to begin from August 5 ..."/>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89126" y="416726"/>
            <a:ext cx="954874" cy="95487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a:off x="207678" y="2002970"/>
            <a:ext cx="8841011" cy="0"/>
          </a:xfrm>
          <a:prstGeom prst="line">
            <a:avLst/>
          </a:prstGeom>
          <a:ln w="38100">
            <a:solidFill>
              <a:srgbClr val="F58B3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2202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indent="465138" algn="just">
              <a:lnSpc>
                <a:spcPct val="10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0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Contents</a:t>
            </a:r>
          </a:p>
        </p:txBody>
      </p:sp>
      <p:grpSp>
        <p:nvGrpSpPr>
          <p:cNvPr id="17" name="Group 16"/>
          <p:cNvGrpSpPr/>
          <p:nvPr/>
        </p:nvGrpSpPr>
        <p:grpSpPr>
          <a:xfrm>
            <a:off x="10162" y="914399"/>
            <a:ext cx="3913748" cy="4986348"/>
            <a:chOff x="174169" y="1194884"/>
            <a:chExt cx="6309312" cy="4060333"/>
          </a:xfrm>
        </p:grpSpPr>
        <p:grpSp>
          <p:nvGrpSpPr>
            <p:cNvPr id="6" name="Group 5"/>
            <p:cNvGrpSpPr/>
            <p:nvPr/>
          </p:nvGrpSpPr>
          <p:grpSpPr>
            <a:xfrm>
              <a:off x="1106586" y="1231641"/>
              <a:ext cx="5376895" cy="3311230"/>
              <a:chOff x="1106586" y="1231641"/>
              <a:chExt cx="5376895" cy="3311230"/>
            </a:xfrm>
          </p:grpSpPr>
          <p:sp>
            <p:nvSpPr>
              <p:cNvPr id="7" name="Freeform 6"/>
              <p:cNvSpPr/>
              <p:nvPr/>
            </p:nvSpPr>
            <p:spPr>
              <a:xfrm>
                <a:off x="1113238" y="1231641"/>
                <a:ext cx="5325831" cy="549059"/>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algn="l" defTabSz="1244600">
                  <a:spcBef>
                    <a:spcPct val="0"/>
                  </a:spcBef>
                  <a:spcAft>
                    <a:spcPct val="35000"/>
                  </a:spcAft>
                </a:pPr>
                <a:r>
                  <a:rPr lang="en-US" sz="2100" b="1" kern="1200" dirty="0">
                    <a:latin typeface="Times New Roman" panose="02020603050405020304" pitchFamily="18" charset="0"/>
                    <a:cs typeface="Times New Roman" panose="02020603050405020304" pitchFamily="18" charset="0"/>
                  </a:rPr>
                  <a:t>Introduction</a:t>
                </a:r>
                <a:endParaRPr lang="en-US" sz="2100" kern="1200" dirty="0"/>
              </a:p>
            </p:txBody>
          </p:sp>
          <p:sp>
            <p:nvSpPr>
              <p:cNvPr id="28" name="Freeform 13">
                <a:extLst>
                  <a:ext uri="{FF2B5EF4-FFF2-40B4-BE49-F238E27FC236}">
                    <a16:creationId xmlns:a16="http://schemas.microsoft.com/office/drawing/2014/main" id="{671AB16F-A988-2FF6-9630-635809B92E8C}"/>
                  </a:ext>
                </a:extLst>
              </p:cNvPr>
              <p:cNvSpPr/>
              <p:nvPr/>
            </p:nvSpPr>
            <p:spPr>
              <a:xfrm>
                <a:off x="1166076" y="1902550"/>
                <a:ext cx="5188480" cy="585816"/>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algn="l" defTabSz="1244600">
                  <a:spcBef>
                    <a:spcPct val="0"/>
                  </a:spcBef>
                  <a:spcAft>
                    <a:spcPct val="35000"/>
                  </a:spcAft>
                </a:pPr>
                <a:endParaRPr lang="en-US" sz="2800" kern="1200" dirty="0"/>
              </a:p>
            </p:txBody>
          </p:sp>
          <p:sp>
            <p:nvSpPr>
              <p:cNvPr id="29" name="Freeform 13">
                <a:extLst>
                  <a:ext uri="{FF2B5EF4-FFF2-40B4-BE49-F238E27FC236}">
                    <a16:creationId xmlns:a16="http://schemas.microsoft.com/office/drawing/2014/main" id="{26D777C2-4CE6-AAD1-A707-0FDE1F9CDCCE}"/>
                  </a:ext>
                </a:extLst>
              </p:cNvPr>
              <p:cNvSpPr/>
              <p:nvPr/>
            </p:nvSpPr>
            <p:spPr>
              <a:xfrm>
                <a:off x="1141508" y="2583208"/>
                <a:ext cx="5325833" cy="585816"/>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algn="l" defTabSz="1244600">
                  <a:spcBef>
                    <a:spcPct val="0"/>
                  </a:spcBef>
                  <a:spcAft>
                    <a:spcPct val="35000"/>
                  </a:spcAft>
                </a:pPr>
                <a:endParaRPr lang="en-US" sz="2800" kern="1200" dirty="0"/>
              </a:p>
            </p:txBody>
          </p:sp>
          <p:sp>
            <p:nvSpPr>
              <p:cNvPr id="30" name="Freeform 13">
                <a:extLst>
                  <a:ext uri="{FF2B5EF4-FFF2-40B4-BE49-F238E27FC236}">
                    <a16:creationId xmlns:a16="http://schemas.microsoft.com/office/drawing/2014/main" id="{3287D74C-F2D6-83E8-53B1-2EC17B40FBCB}"/>
                  </a:ext>
                </a:extLst>
              </p:cNvPr>
              <p:cNvSpPr/>
              <p:nvPr/>
            </p:nvSpPr>
            <p:spPr>
              <a:xfrm>
                <a:off x="1106586" y="3282292"/>
                <a:ext cx="5376895" cy="585816"/>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algn="l" defTabSz="1244600">
                  <a:spcBef>
                    <a:spcPct val="0"/>
                  </a:spcBef>
                  <a:spcAft>
                    <a:spcPct val="35000"/>
                  </a:spcAft>
                </a:pPr>
                <a:endParaRPr lang="en-US" sz="2800" kern="1200" dirty="0"/>
              </a:p>
            </p:txBody>
          </p:sp>
          <p:sp>
            <p:nvSpPr>
              <p:cNvPr id="33" name="Freeform 13">
                <a:extLst>
                  <a:ext uri="{FF2B5EF4-FFF2-40B4-BE49-F238E27FC236}">
                    <a16:creationId xmlns:a16="http://schemas.microsoft.com/office/drawing/2014/main" id="{B6816A78-D9BF-7AF5-C590-737A033D47AC}"/>
                  </a:ext>
                </a:extLst>
              </p:cNvPr>
              <p:cNvSpPr/>
              <p:nvPr/>
            </p:nvSpPr>
            <p:spPr>
              <a:xfrm>
                <a:off x="1166075" y="3947296"/>
                <a:ext cx="5238895" cy="595575"/>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b" anchorCtr="0">
                <a:noAutofit/>
              </a:bodyPr>
              <a:lstStyle/>
              <a:p>
                <a:pPr defTabSz="1244600">
                  <a:lnSpc>
                    <a:spcPct val="250000"/>
                  </a:lnSpc>
                  <a:spcBef>
                    <a:spcPct val="0"/>
                  </a:spcBef>
                  <a:spcAft>
                    <a:spcPct val="35000"/>
                  </a:spcAft>
                </a:pPr>
                <a:r>
                  <a:rPr lang="en-US" sz="2100" b="1" dirty="0">
                    <a:latin typeface="Times New Roman" panose="02020603050405020304" pitchFamily="18" charset="0"/>
                    <a:cs typeface="Times New Roman" panose="02020603050405020304" pitchFamily="18" charset="0"/>
                  </a:rPr>
                  <a:t>Proposed Solution</a:t>
                </a:r>
                <a:endParaRPr lang="en-US" sz="2100" b="1" kern="1200" dirty="0">
                  <a:latin typeface="Times New Roman" panose="02020603050405020304" pitchFamily="18" charset="0"/>
                  <a:cs typeface="Times New Roman" panose="02020603050405020304" pitchFamily="18" charset="0"/>
                </a:endParaRPr>
              </a:p>
            </p:txBody>
          </p:sp>
        </p:grpSp>
        <p:sp>
          <p:nvSpPr>
            <p:cNvPr id="8" name="Oval 7"/>
            <p:cNvSpPr/>
            <p:nvPr/>
          </p:nvSpPr>
          <p:spPr>
            <a:xfrm>
              <a:off x="174169" y="1194884"/>
              <a:ext cx="830955" cy="5858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1</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9" name="Oval 8"/>
            <p:cNvSpPr/>
            <p:nvPr/>
          </p:nvSpPr>
          <p:spPr>
            <a:xfrm>
              <a:off x="174169" y="1902549"/>
              <a:ext cx="909768" cy="5858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2</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val 9"/>
            <p:cNvSpPr/>
            <p:nvPr/>
          </p:nvSpPr>
          <p:spPr>
            <a:xfrm>
              <a:off x="185515" y="2629235"/>
              <a:ext cx="830955" cy="5858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3</a:t>
              </a:r>
            </a:p>
          </p:txBody>
        </p:sp>
        <p:sp>
          <p:nvSpPr>
            <p:cNvPr id="11" name="Oval 10"/>
            <p:cNvSpPr/>
            <p:nvPr/>
          </p:nvSpPr>
          <p:spPr>
            <a:xfrm>
              <a:off x="227723" y="3314262"/>
              <a:ext cx="830955" cy="540709"/>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4</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1" name="Oval 30">
              <a:extLst>
                <a:ext uri="{FF2B5EF4-FFF2-40B4-BE49-F238E27FC236}">
                  <a16:creationId xmlns:a16="http://schemas.microsoft.com/office/drawing/2014/main" id="{587FCF4F-5DAA-C479-56C1-B8BAA049A559}"/>
                </a:ext>
              </a:extLst>
            </p:cNvPr>
            <p:cNvSpPr/>
            <p:nvPr/>
          </p:nvSpPr>
          <p:spPr>
            <a:xfrm>
              <a:off x="226035" y="3974729"/>
              <a:ext cx="830955" cy="540709"/>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5</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D6E80185-5F1F-21DD-8859-A1603345B455}"/>
                </a:ext>
              </a:extLst>
            </p:cNvPr>
            <p:cNvSpPr/>
            <p:nvPr/>
          </p:nvSpPr>
          <p:spPr>
            <a:xfrm>
              <a:off x="201467" y="4714508"/>
              <a:ext cx="821047" cy="540709"/>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dirty="0">
                  <a:solidFill>
                    <a:schemeClr val="tx1"/>
                  </a:solidFill>
                  <a:latin typeface="Times New Roman" panose="02020603050405020304" pitchFamily="18" charset="0"/>
                  <a:cs typeface="Times New Roman" panose="02020603050405020304" pitchFamily="18" charset="0"/>
                </a:rPr>
                <a:t>6</a:t>
              </a:r>
              <a:endParaRPr lang="en-US" b="1" dirty="0">
                <a:solidFill>
                  <a:schemeClr val="tx1"/>
                </a:solidFill>
                <a:latin typeface="Times New Roman" panose="02020603050405020304" pitchFamily="18" charset="0"/>
                <a:cs typeface="Times New Roman" panose="02020603050405020304" pitchFamily="18" charset="0"/>
              </a:endParaRPr>
            </a:p>
          </p:txBody>
        </p:sp>
      </p:grpSp>
      <p:sp>
        <p:nvSpPr>
          <p:cNvPr id="2" name="TextBox 1">
            <a:extLst>
              <a:ext uri="{FF2B5EF4-FFF2-40B4-BE49-F238E27FC236}">
                <a16:creationId xmlns:a16="http://schemas.microsoft.com/office/drawing/2014/main" id="{CE77AE19-4FA9-D964-59BB-5226FBA30177}"/>
              </a:ext>
            </a:extLst>
          </p:cNvPr>
          <p:cNvSpPr txBox="1"/>
          <p:nvPr/>
        </p:nvSpPr>
        <p:spPr>
          <a:xfrm>
            <a:off x="772593" y="1094872"/>
            <a:ext cx="2427807" cy="1611210"/>
          </a:xfrm>
          <a:prstGeom prst="rect">
            <a:avLst/>
          </a:prstGeom>
          <a:noFill/>
        </p:spPr>
        <p:txBody>
          <a:bodyPr wrap="square" rtlCol="0">
            <a:spAutoFit/>
          </a:bodyPr>
          <a:lstStyle/>
          <a:p>
            <a:pPr defTabSz="1244600">
              <a:spcBef>
                <a:spcPct val="0"/>
              </a:spcBef>
              <a:spcAft>
                <a:spcPct val="35000"/>
              </a:spcAft>
            </a:pPr>
            <a:endParaRPr lang="en-US" sz="2100" b="1" dirty="0">
              <a:solidFill>
                <a:schemeClr val="bg1"/>
              </a:solidFill>
              <a:latin typeface="Times New Roman" panose="02020603050405020304" pitchFamily="18" charset="0"/>
              <a:cs typeface="Times New Roman" panose="02020603050405020304" pitchFamily="18" charset="0"/>
            </a:endParaRPr>
          </a:p>
          <a:p>
            <a:pPr lvl="0" defTabSz="1244600">
              <a:spcBef>
                <a:spcPct val="0"/>
              </a:spcBef>
              <a:spcAft>
                <a:spcPct val="35000"/>
              </a:spcAft>
            </a:pPr>
            <a:endParaRPr lang="en-US" sz="2100" dirty="0"/>
          </a:p>
          <a:p>
            <a:r>
              <a:rPr lang="en-US" sz="2100" b="1" dirty="0">
                <a:solidFill>
                  <a:schemeClr val="bg1"/>
                </a:solidFill>
                <a:latin typeface="Times New Roman" panose="02020603050405020304" pitchFamily="18" charset="0"/>
                <a:cs typeface="Times New Roman" panose="02020603050405020304" pitchFamily="18" charset="0"/>
              </a:rPr>
              <a:t>Problem Statement</a:t>
            </a:r>
          </a:p>
          <a:p>
            <a:endParaRPr lang="en-US" sz="2100" dirty="0"/>
          </a:p>
        </p:txBody>
      </p:sp>
      <p:sp>
        <p:nvSpPr>
          <p:cNvPr id="5" name="TextBox 4">
            <a:extLst>
              <a:ext uri="{FF2B5EF4-FFF2-40B4-BE49-F238E27FC236}">
                <a16:creationId xmlns:a16="http://schemas.microsoft.com/office/drawing/2014/main" id="{BBF240EF-96DB-5245-7A86-B67B3D3BAC99}"/>
              </a:ext>
            </a:extLst>
          </p:cNvPr>
          <p:cNvSpPr txBox="1"/>
          <p:nvPr/>
        </p:nvSpPr>
        <p:spPr>
          <a:xfrm>
            <a:off x="717935" y="2783578"/>
            <a:ext cx="2916414" cy="415498"/>
          </a:xfrm>
          <a:prstGeom prst="rect">
            <a:avLst/>
          </a:prstGeom>
          <a:noFill/>
        </p:spPr>
        <p:txBody>
          <a:bodyPr wrap="square" rtlCol="0">
            <a:spAutoFit/>
          </a:bodyPr>
          <a:lstStyle/>
          <a:p>
            <a:r>
              <a:rPr lang="en-US" sz="2100" b="1" dirty="0">
                <a:solidFill>
                  <a:schemeClr val="bg1"/>
                </a:solidFill>
                <a:latin typeface="Times New Roman" panose="02020603050405020304" pitchFamily="18" charset="0"/>
                <a:cs typeface="Times New Roman" panose="02020603050405020304" pitchFamily="18" charset="0"/>
              </a:rPr>
              <a:t>Objective</a:t>
            </a:r>
            <a:endParaRPr lang="en-US" sz="2100" dirty="0"/>
          </a:p>
        </p:txBody>
      </p:sp>
      <p:sp>
        <p:nvSpPr>
          <p:cNvPr id="12" name="TextBox 11">
            <a:extLst>
              <a:ext uri="{FF2B5EF4-FFF2-40B4-BE49-F238E27FC236}">
                <a16:creationId xmlns:a16="http://schemas.microsoft.com/office/drawing/2014/main" id="{9F814902-9D68-C990-6347-D702E6FAAC8E}"/>
              </a:ext>
            </a:extLst>
          </p:cNvPr>
          <p:cNvSpPr txBox="1"/>
          <p:nvPr/>
        </p:nvSpPr>
        <p:spPr>
          <a:xfrm>
            <a:off x="665596" y="3584392"/>
            <a:ext cx="3215524" cy="415498"/>
          </a:xfrm>
          <a:prstGeom prst="rect">
            <a:avLst/>
          </a:prstGeom>
          <a:noFill/>
        </p:spPr>
        <p:txBody>
          <a:bodyPr wrap="square" rtlCol="0">
            <a:spAutoFit/>
          </a:bodyPr>
          <a:lstStyle/>
          <a:p>
            <a:r>
              <a:rPr lang="en-US" sz="2100" b="1" dirty="0">
                <a:solidFill>
                  <a:schemeClr val="bg1"/>
                </a:solidFill>
                <a:latin typeface="Times New Roman" panose="02020603050405020304" pitchFamily="18" charset="0"/>
                <a:cs typeface="Times New Roman" panose="02020603050405020304" pitchFamily="18" charset="0"/>
              </a:rPr>
              <a:t>Literature Review </a:t>
            </a:r>
            <a:endParaRPr lang="en-US" sz="2100" dirty="0"/>
          </a:p>
        </p:txBody>
      </p:sp>
      <p:grpSp>
        <p:nvGrpSpPr>
          <p:cNvPr id="13" name="Group 12">
            <a:extLst>
              <a:ext uri="{FF2B5EF4-FFF2-40B4-BE49-F238E27FC236}">
                <a16:creationId xmlns:a16="http://schemas.microsoft.com/office/drawing/2014/main" id="{289CA6E5-8D82-2C78-57A2-C63884AC9A90}"/>
              </a:ext>
            </a:extLst>
          </p:cNvPr>
          <p:cNvGrpSpPr/>
          <p:nvPr/>
        </p:nvGrpSpPr>
        <p:grpSpPr>
          <a:xfrm>
            <a:off x="4585433" y="914399"/>
            <a:ext cx="4038634" cy="2417053"/>
            <a:chOff x="-55315" y="1075213"/>
            <a:chExt cx="6510638" cy="1968181"/>
          </a:xfrm>
        </p:grpSpPr>
        <p:grpSp>
          <p:nvGrpSpPr>
            <p:cNvPr id="15" name="Group 14">
              <a:extLst>
                <a:ext uri="{FF2B5EF4-FFF2-40B4-BE49-F238E27FC236}">
                  <a16:creationId xmlns:a16="http://schemas.microsoft.com/office/drawing/2014/main" id="{0FA970B0-DA1B-EF6D-8CB7-1B3B15F18ED4}"/>
                </a:ext>
              </a:extLst>
            </p:cNvPr>
            <p:cNvGrpSpPr/>
            <p:nvPr/>
          </p:nvGrpSpPr>
          <p:grpSpPr>
            <a:xfrm>
              <a:off x="1129490" y="1075213"/>
              <a:ext cx="5325833" cy="1310369"/>
              <a:chOff x="1129490" y="1075213"/>
              <a:chExt cx="5325833" cy="1310369"/>
            </a:xfrm>
          </p:grpSpPr>
          <p:sp>
            <p:nvSpPr>
              <p:cNvPr id="24" name="Freeform 13">
                <a:extLst>
                  <a:ext uri="{FF2B5EF4-FFF2-40B4-BE49-F238E27FC236}">
                    <a16:creationId xmlns:a16="http://schemas.microsoft.com/office/drawing/2014/main" id="{4EC16B3E-AEE7-5C9D-D17E-F179F0378962}"/>
                  </a:ext>
                </a:extLst>
              </p:cNvPr>
              <p:cNvSpPr/>
              <p:nvPr/>
            </p:nvSpPr>
            <p:spPr>
              <a:xfrm>
                <a:off x="1129490" y="1075213"/>
                <a:ext cx="5325833" cy="585816"/>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algn="l" defTabSz="1244600">
                  <a:spcBef>
                    <a:spcPct val="0"/>
                  </a:spcBef>
                  <a:spcAft>
                    <a:spcPct val="35000"/>
                  </a:spcAft>
                </a:pPr>
                <a:endParaRPr lang="en-US" sz="2200" kern="1200" dirty="0"/>
              </a:p>
            </p:txBody>
          </p:sp>
          <p:sp>
            <p:nvSpPr>
              <p:cNvPr id="25" name="Freeform 13">
                <a:extLst>
                  <a:ext uri="{FF2B5EF4-FFF2-40B4-BE49-F238E27FC236}">
                    <a16:creationId xmlns:a16="http://schemas.microsoft.com/office/drawing/2014/main" id="{146DC18E-A3B3-A09E-71FF-7A32D8295766}"/>
                  </a:ext>
                </a:extLst>
              </p:cNvPr>
              <p:cNvSpPr/>
              <p:nvPr/>
            </p:nvSpPr>
            <p:spPr>
              <a:xfrm>
                <a:off x="1129491" y="1791979"/>
                <a:ext cx="5325832" cy="593603"/>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algn="l" defTabSz="1244600">
                  <a:spcBef>
                    <a:spcPct val="0"/>
                  </a:spcBef>
                  <a:spcAft>
                    <a:spcPct val="35000"/>
                  </a:spcAft>
                </a:pPr>
                <a:r>
                  <a:rPr lang="en-US" sz="2100" b="1" dirty="0">
                    <a:latin typeface="Times New Roman" panose="02020603050405020304" pitchFamily="18" charset="0"/>
                    <a:cs typeface="Times New Roman" panose="02020603050405020304" pitchFamily="18" charset="0"/>
                  </a:rPr>
                  <a:t>Implementation</a:t>
                </a:r>
                <a:endParaRPr lang="en-US" sz="2100" b="1" kern="1200" dirty="0">
                  <a:latin typeface="Times New Roman" panose="02020603050405020304" pitchFamily="18" charset="0"/>
                  <a:cs typeface="Times New Roman" panose="02020603050405020304" pitchFamily="18" charset="0"/>
                </a:endParaRPr>
              </a:p>
            </p:txBody>
          </p:sp>
        </p:grpSp>
        <p:sp>
          <p:nvSpPr>
            <p:cNvPr id="16" name="Oval 15">
              <a:extLst>
                <a:ext uri="{FF2B5EF4-FFF2-40B4-BE49-F238E27FC236}">
                  <a16:creationId xmlns:a16="http://schemas.microsoft.com/office/drawing/2014/main" id="{5F88379D-5404-B2D6-0682-1107AF1856C8}"/>
                </a:ext>
              </a:extLst>
            </p:cNvPr>
            <p:cNvSpPr/>
            <p:nvPr/>
          </p:nvSpPr>
          <p:spPr>
            <a:xfrm>
              <a:off x="174170" y="1111970"/>
              <a:ext cx="902462" cy="523749"/>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8</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id="{FA69FCC2-E338-E59C-091C-40208786AC24}"/>
                </a:ext>
              </a:extLst>
            </p:cNvPr>
            <p:cNvSpPr/>
            <p:nvPr/>
          </p:nvSpPr>
          <p:spPr>
            <a:xfrm>
              <a:off x="164243" y="1802156"/>
              <a:ext cx="902462" cy="58342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9</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9" name="Oval 18">
              <a:extLst>
                <a:ext uri="{FF2B5EF4-FFF2-40B4-BE49-F238E27FC236}">
                  <a16:creationId xmlns:a16="http://schemas.microsoft.com/office/drawing/2014/main" id="{E0723C2C-8535-0FE0-A5BB-6AA6B94A1BF0}"/>
                </a:ext>
              </a:extLst>
            </p:cNvPr>
            <p:cNvSpPr/>
            <p:nvPr/>
          </p:nvSpPr>
          <p:spPr>
            <a:xfrm>
              <a:off x="-55315" y="2497551"/>
              <a:ext cx="1252455" cy="545843"/>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10</a:t>
              </a:r>
            </a:p>
          </p:txBody>
        </p:sp>
      </p:grpSp>
      <p:sp>
        <p:nvSpPr>
          <p:cNvPr id="35" name="TextBox 34">
            <a:extLst>
              <a:ext uri="{FF2B5EF4-FFF2-40B4-BE49-F238E27FC236}">
                <a16:creationId xmlns:a16="http://schemas.microsoft.com/office/drawing/2014/main" id="{9764A5AE-B954-A0AC-85F1-8D03522C82E0}"/>
              </a:ext>
            </a:extLst>
          </p:cNvPr>
          <p:cNvSpPr txBox="1"/>
          <p:nvPr/>
        </p:nvSpPr>
        <p:spPr>
          <a:xfrm>
            <a:off x="5411290" y="1058664"/>
            <a:ext cx="3308954" cy="430887"/>
          </a:xfrm>
          <a:prstGeom prst="rect">
            <a:avLst/>
          </a:prstGeom>
          <a:noFill/>
        </p:spPr>
        <p:txBody>
          <a:bodyPr wrap="square" rtlCol="0">
            <a:spAutoFit/>
          </a:bodyPr>
          <a:lstStyle/>
          <a:p>
            <a:r>
              <a:rPr lang="en-US" sz="2200" b="1" dirty="0">
                <a:solidFill>
                  <a:schemeClr val="bg1"/>
                </a:solidFill>
                <a:latin typeface="Times New Roman" panose="02020603050405020304" pitchFamily="18" charset="0"/>
                <a:cs typeface="Times New Roman" panose="02020603050405020304" pitchFamily="18" charset="0"/>
              </a:rPr>
              <a:t>Technology Stack</a:t>
            </a:r>
            <a:endParaRPr lang="en-US" sz="2200" dirty="0"/>
          </a:p>
        </p:txBody>
      </p:sp>
      <p:sp>
        <p:nvSpPr>
          <p:cNvPr id="32" name="Freeform 13">
            <a:extLst>
              <a:ext uri="{FF2B5EF4-FFF2-40B4-BE49-F238E27FC236}">
                <a16:creationId xmlns:a16="http://schemas.microsoft.com/office/drawing/2014/main" id="{4EC16B3E-AEE7-5C9D-D17E-F179F0378962}"/>
              </a:ext>
            </a:extLst>
          </p:cNvPr>
          <p:cNvSpPr/>
          <p:nvPr/>
        </p:nvSpPr>
        <p:spPr>
          <a:xfrm>
            <a:off x="588552" y="5229166"/>
            <a:ext cx="3380906" cy="712804"/>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r>
              <a:rPr lang="en-US" sz="2100" b="1" dirty="0">
                <a:solidFill>
                  <a:schemeClr val="bg1"/>
                </a:solidFill>
                <a:latin typeface="Times New Roman" panose="02020603050405020304" pitchFamily="18" charset="0"/>
                <a:cs typeface="Times New Roman" panose="02020603050405020304" pitchFamily="18" charset="0"/>
              </a:rPr>
              <a:t>System Architecture</a:t>
            </a:r>
            <a:endParaRPr lang="en-US" sz="2100" dirty="0"/>
          </a:p>
        </p:txBody>
      </p:sp>
      <p:sp>
        <p:nvSpPr>
          <p:cNvPr id="36" name="Freeform 13">
            <a:extLst>
              <a:ext uri="{FF2B5EF4-FFF2-40B4-BE49-F238E27FC236}">
                <a16:creationId xmlns:a16="http://schemas.microsoft.com/office/drawing/2014/main" id="{4EC16B3E-AEE7-5C9D-D17E-F179F0378962}"/>
              </a:ext>
            </a:extLst>
          </p:cNvPr>
          <p:cNvSpPr/>
          <p:nvPr/>
        </p:nvSpPr>
        <p:spPr>
          <a:xfrm>
            <a:off x="5335864" y="2668439"/>
            <a:ext cx="3303683" cy="670330"/>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defTabSz="1244600">
              <a:spcBef>
                <a:spcPct val="0"/>
              </a:spcBef>
              <a:spcAft>
                <a:spcPct val="35000"/>
              </a:spcAft>
            </a:pPr>
            <a:r>
              <a:rPr lang="en-US" sz="2100" b="1" dirty="0">
                <a:latin typeface="Times New Roman" panose="02020603050405020304" pitchFamily="18" charset="0"/>
                <a:cs typeface="Times New Roman" panose="02020603050405020304" pitchFamily="18" charset="0"/>
              </a:rPr>
              <a:t>Testing</a:t>
            </a:r>
            <a:endParaRPr lang="en-US" sz="2100" kern="1200" dirty="0"/>
          </a:p>
        </p:txBody>
      </p:sp>
      <p:sp>
        <p:nvSpPr>
          <p:cNvPr id="37" name="Freeform 13">
            <a:extLst>
              <a:ext uri="{FF2B5EF4-FFF2-40B4-BE49-F238E27FC236}">
                <a16:creationId xmlns:a16="http://schemas.microsoft.com/office/drawing/2014/main" id="{4EC16B3E-AEE7-5C9D-D17E-F179F0378962}"/>
              </a:ext>
            </a:extLst>
          </p:cNvPr>
          <p:cNvSpPr/>
          <p:nvPr/>
        </p:nvSpPr>
        <p:spPr>
          <a:xfrm>
            <a:off x="5404483" y="3429000"/>
            <a:ext cx="3219584" cy="759696"/>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defTabSz="1244600">
              <a:spcBef>
                <a:spcPct val="0"/>
              </a:spcBef>
              <a:spcAft>
                <a:spcPct val="35000"/>
              </a:spcAft>
            </a:pPr>
            <a:r>
              <a:rPr lang="en-US" sz="2100" b="1" dirty="0">
                <a:latin typeface="Times New Roman" panose="02020603050405020304" pitchFamily="18" charset="0"/>
                <a:cs typeface="Times New Roman" panose="02020603050405020304" pitchFamily="18" charset="0"/>
              </a:rPr>
              <a:t>Result &amp; Output</a:t>
            </a:r>
            <a:endParaRPr lang="en-US" sz="2100" kern="1200" dirty="0"/>
          </a:p>
        </p:txBody>
      </p:sp>
      <p:sp>
        <p:nvSpPr>
          <p:cNvPr id="38" name="Freeform 13">
            <a:extLst>
              <a:ext uri="{FF2B5EF4-FFF2-40B4-BE49-F238E27FC236}">
                <a16:creationId xmlns:a16="http://schemas.microsoft.com/office/drawing/2014/main" id="{4EC16B3E-AEE7-5C9D-D17E-F179F0378962}"/>
              </a:ext>
            </a:extLst>
          </p:cNvPr>
          <p:cNvSpPr/>
          <p:nvPr/>
        </p:nvSpPr>
        <p:spPr>
          <a:xfrm>
            <a:off x="5433258" y="4268265"/>
            <a:ext cx="3286986" cy="731404"/>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defTabSz="1244600">
              <a:spcBef>
                <a:spcPct val="0"/>
              </a:spcBef>
              <a:spcAft>
                <a:spcPct val="35000"/>
              </a:spcAft>
            </a:pPr>
            <a:r>
              <a:rPr lang="en-US" sz="2100" b="1" dirty="0">
                <a:latin typeface="Times New Roman" panose="02020603050405020304" pitchFamily="18" charset="0"/>
                <a:cs typeface="Times New Roman" panose="02020603050405020304" pitchFamily="18" charset="0"/>
              </a:rPr>
              <a:t>Future Scope</a:t>
            </a:r>
            <a:endParaRPr lang="en-US" sz="2100" kern="1200" dirty="0"/>
          </a:p>
        </p:txBody>
      </p:sp>
      <p:sp>
        <p:nvSpPr>
          <p:cNvPr id="39" name="Oval 38">
            <a:extLst>
              <a:ext uri="{FF2B5EF4-FFF2-40B4-BE49-F238E27FC236}">
                <a16:creationId xmlns:a16="http://schemas.microsoft.com/office/drawing/2014/main" id="{5F88379D-5404-B2D6-0682-1107AF1856C8}"/>
              </a:ext>
            </a:extLst>
          </p:cNvPr>
          <p:cNvSpPr/>
          <p:nvPr/>
        </p:nvSpPr>
        <p:spPr>
          <a:xfrm>
            <a:off x="4634376" y="3453112"/>
            <a:ext cx="776914" cy="654598"/>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11</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1" name="Oval 40">
            <a:extLst>
              <a:ext uri="{FF2B5EF4-FFF2-40B4-BE49-F238E27FC236}">
                <a16:creationId xmlns:a16="http://schemas.microsoft.com/office/drawing/2014/main" id="{5F88379D-5404-B2D6-0682-1107AF1856C8}"/>
              </a:ext>
            </a:extLst>
          </p:cNvPr>
          <p:cNvSpPr/>
          <p:nvPr/>
        </p:nvSpPr>
        <p:spPr>
          <a:xfrm>
            <a:off x="4634376" y="4319747"/>
            <a:ext cx="776914" cy="654598"/>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12</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2" name="Oval 41">
            <a:extLst>
              <a:ext uri="{FF2B5EF4-FFF2-40B4-BE49-F238E27FC236}">
                <a16:creationId xmlns:a16="http://schemas.microsoft.com/office/drawing/2014/main" id="{5F88379D-5404-B2D6-0682-1107AF1856C8}"/>
              </a:ext>
            </a:extLst>
          </p:cNvPr>
          <p:cNvSpPr/>
          <p:nvPr/>
        </p:nvSpPr>
        <p:spPr>
          <a:xfrm>
            <a:off x="4598426" y="5196542"/>
            <a:ext cx="776914" cy="566660"/>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13</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3" name="Freeform 13">
            <a:extLst>
              <a:ext uri="{FF2B5EF4-FFF2-40B4-BE49-F238E27FC236}">
                <a16:creationId xmlns:a16="http://schemas.microsoft.com/office/drawing/2014/main" id="{4EC16B3E-AEE7-5C9D-D17E-F179F0378962}"/>
              </a:ext>
            </a:extLst>
          </p:cNvPr>
          <p:cNvSpPr/>
          <p:nvPr/>
        </p:nvSpPr>
        <p:spPr>
          <a:xfrm>
            <a:off x="5427113" y="5146825"/>
            <a:ext cx="3277308" cy="731405"/>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defTabSz="1244600">
              <a:spcBef>
                <a:spcPct val="0"/>
              </a:spcBef>
              <a:spcAft>
                <a:spcPct val="35000"/>
              </a:spcAft>
            </a:pPr>
            <a:r>
              <a:rPr lang="en-US" sz="2100" b="1" dirty="0">
                <a:latin typeface="Times New Roman" panose="02020603050405020304" pitchFamily="18" charset="0"/>
                <a:cs typeface="Times New Roman" panose="02020603050405020304" pitchFamily="18" charset="0"/>
              </a:rPr>
              <a:t>Conclusion</a:t>
            </a:r>
            <a:endParaRPr lang="en-US" sz="2100" dirty="0"/>
          </a:p>
        </p:txBody>
      </p:sp>
      <p:sp>
        <p:nvSpPr>
          <p:cNvPr id="20" name="Oval 19">
            <a:extLst>
              <a:ext uri="{FF2B5EF4-FFF2-40B4-BE49-F238E27FC236}">
                <a16:creationId xmlns:a16="http://schemas.microsoft.com/office/drawing/2014/main" id="{1B2EEB86-3630-B0EE-BEF1-15DADBFB1785}"/>
              </a:ext>
            </a:extLst>
          </p:cNvPr>
          <p:cNvSpPr/>
          <p:nvPr/>
        </p:nvSpPr>
        <p:spPr>
          <a:xfrm>
            <a:off x="47878" y="6047984"/>
            <a:ext cx="509306" cy="664025"/>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dirty="0">
                <a:solidFill>
                  <a:schemeClr val="tx1"/>
                </a:solidFill>
                <a:latin typeface="Times New Roman" panose="02020603050405020304" pitchFamily="18" charset="0"/>
                <a:cs typeface="Times New Roman" panose="02020603050405020304" pitchFamily="18" charset="0"/>
              </a:rPr>
              <a:t>7</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22" name="Freeform 13">
            <a:extLst>
              <a:ext uri="{FF2B5EF4-FFF2-40B4-BE49-F238E27FC236}">
                <a16:creationId xmlns:a16="http://schemas.microsoft.com/office/drawing/2014/main" id="{8A46AAE1-EDC6-766E-59C3-5BDBCC2D41C8}"/>
              </a:ext>
            </a:extLst>
          </p:cNvPr>
          <p:cNvSpPr/>
          <p:nvPr/>
        </p:nvSpPr>
        <p:spPr>
          <a:xfrm>
            <a:off x="565778" y="6072625"/>
            <a:ext cx="3380906" cy="712804"/>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r>
              <a:rPr lang="en-US" sz="2000" b="1" dirty="0">
                <a:solidFill>
                  <a:schemeClr val="bg1"/>
                </a:solidFill>
                <a:latin typeface="Times New Roman" panose="02020603050405020304" pitchFamily="18" charset="0"/>
                <a:cs typeface="Times New Roman" panose="02020603050405020304" pitchFamily="18" charset="0"/>
              </a:rPr>
              <a:t>Module Description</a:t>
            </a:r>
            <a:endParaRPr lang="en-US" sz="2000" dirty="0"/>
          </a:p>
        </p:txBody>
      </p:sp>
      <p:sp>
        <p:nvSpPr>
          <p:cNvPr id="26" name="Oval 25">
            <a:extLst>
              <a:ext uri="{FF2B5EF4-FFF2-40B4-BE49-F238E27FC236}">
                <a16:creationId xmlns:a16="http://schemas.microsoft.com/office/drawing/2014/main" id="{53AD8F05-1B85-4C9A-9181-92A6F388DF93}"/>
              </a:ext>
            </a:extLst>
          </p:cNvPr>
          <p:cNvSpPr/>
          <p:nvPr/>
        </p:nvSpPr>
        <p:spPr>
          <a:xfrm>
            <a:off x="4650899" y="6025386"/>
            <a:ext cx="776914" cy="566660"/>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14</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5" name="Freeform 13">
            <a:extLst>
              <a:ext uri="{FF2B5EF4-FFF2-40B4-BE49-F238E27FC236}">
                <a16:creationId xmlns:a16="http://schemas.microsoft.com/office/drawing/2014/main" id="{3597BE95-5F0B-4717-6EC4-4A08A70DB811}"/>
              </a:ext>
            </a:extLst>
          </p:cNvPr>
          <p:cNvSpPr/>
          <p:nvPr/>
        </p:nvSpPr>
        <p:spPr>
          <a:xfrm>
            <a:off x="5463256" y="5980604"/>
            <a:ext cx="3277308" cy="731405"/>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defTabSz="1244600">
              <a:spcBef>
                <a:spcPct val="0"/>
              </a:spcBef>
              <a:spcAft>
                <a:spcPct val="35000"/>
              </a:spcAft>
            </a:pPr>
            <a:r>
              <a:rPr lang="en-US" sz="2100" b="1" dirty="0">
                <a:latin typeface="Times New Roman" panose="02020603050405020304" pitchFamily="18" charset="0"/>
                <a:cs typeface="Times New Roman" panose="02020603050405020304" pitchFamily="18" charset="0"/>
              </a:rPr>
              <a:t>References</a:t>
            </a:r>
            <a:endParaRPr lang="en-US" sz="2100" dirty="0"/>
          </a:p>
        </p:txBody>
      </p:sp>
    </p:spTree>
    <p:extLst>
      <p:ext uri="{BB962C8B-B14F-4D97-AF65-F5344CB8AC3E}">
        <p14:creationId xmlns:p14="http://schemas.microsoft.com/office/powerpoint/2010/main" val="2188683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Introduction</a:t>
            </a:r>
          </a:p>
        </p:txBody>
      </p:sp>
      <p:sp>
        <p:nvSpPr>
          <p:cNvPr id="5" name="TextBox 4"/>
          <p:cNvSpPr txBox="1"/>
          <p:nvPr/>
        </p:nvSpPr>
        <p:spPr>
          <a:xfrm>
            <a:off x="261257" y="1781364"/>
            <a:ext cx="5910943" cy="3785652"/>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use of CNG vehicles is increasing due to their low cost and eco-friendly nature.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Long queues at CNG stations cause delays and inconvenience for customers.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Smart CNG Reservation System</a:t>
            </a:r>
            <a:r>
              <a:rPr lang="en-IN" sz="2400" dirty="0">
                <a:latin typeface="Times New Roman" panose="02020603050405020304" pitchFamily="18" charset="0"/>
                <a:cs typeface="Times New Roman" panose="02020603050405020304" pitchFamily="18" charset="0"/>
              </a:rPr>
              <a:t> allows users to book CNG filling slots online in advance.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helps reduce waiting time, improve queue management, and provide a faster and more convenient </a:t>
            </a:r>
            <a:r>
              <a:rPr lang="en-IN" sz="2400" dirty="0" err="1">
                <a:latin typeface="Times New Roman" panose="02020603050405020304" pitchFamily="18" charset="0"/>
                <a:cs typeface="Times New Roman" panose="02020603050405020304" pitchFamily="18" charset="0"/>
              </a:rPr>
              <a:t>refueling</a:t>
            </a:r>
            <a:r>
              <a:rPr lang="en-IN" sz="2400" dirty="0">
                <a:latin typeface="Times New Roman" panose="02020603050405020304" pitchFamily="18" charset="0"/>
                <a:cs typeface="Times New Roman" panose="02020603050405020304" pitchFamily="18" charset="0"/>
              </a:rPr>
              <a:t> experience.</a:t>
            </a:r>
            <a:endParaRPr lang="en-US" sz="2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9399" y="2133600"/>
            <a:ext cx="2341519" cy="3124200"/>
          </a:xfrm>
          <a:prstGeom prst="rect">
            <a:avLst/>
          </a:prstGeom>
        </p:spPr>
      </p:pic>
    </p:spTree>
    <p:extLst>
      <p:ext uri="{BB962C8B-B14F-4D97-AF65-F5344CB8AC3E}">
        <p14:creationId xmlns:p14="http://schemas.microsoft.com/office/powerpoint/2010/main" val="2600475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Problem Statement</a:t>
            </a:r>
          </a:p>
        </p:txBody>
      </p:sp>
      <p:sp>
        <p:nvSpPr>
          <p:cNvPr id="5" name="TextBox 4"/>
          <p:cNvSpPr txBox="1"/>
          <p:nvPr/>
        </p:nvSpPr>
        <p:spPr>
          <a:xfrm>
            <a:off x="261257" y="1981200"/>
            <a:ext cx="8577943" cy="2677656"/>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increasing number of CNG vehicles has resulted in long queues and overcrowding at CNG stations.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Users cannot check real-time slot availability or waiting time before visiting a station.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Manual queue management leads to delays and inconvenience.</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 smart digital reservation system is needed to enable online slot booking and improve queue management.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5257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3314C99F-127C-77A8-775A-ECF11CA2B098}"/>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8CF4A704-168F-0497-3EE2-62828A05F257}"/>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Objective</a:t>
            </a:r>
          </a:p>
        </p:txBody>
      </p:sp>
      <p:sp>
        <p:nvSpPr>
          <p:cNvPr id="4" name="TextBox 3">
            <a:extLst>
              <a:ext uri="{FF2B5EF4-FFF2-40B4-BE49-F238E27FC236}">
                <a16:creationId xmlns:a16="http://schemas.microsoft.com/office/drawing/2014/main" id="{4172442B-6E4A-AB61-41F7-D0E50F8BA86D}"/>
              </a:ext>
            </a:extLst>
          </p:cNvPr>
          <p:cNvSpPr txBox="1"/>
          <p:nvPr/>
        </p:nvSpPr>
        <p:spPr>
          <a:xfrm>
            <a:off x="762001" y="2090172"/>
            <a:ext cx="7696200" cy="2677656"/>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 an online CNG booking system.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Reduce customer waiting time.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 queue management.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 real-time slot availability.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Enable secure login and booking.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Generate booking confirmations.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Allow station administrators to manage reservations.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348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0AF8A69-D21D-DC82-EA9C-537C68467D4F}"/>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2B197CCA-2286-EF78-E6BD-E51565D2A461}"/>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Literature Review / Existing Systems</a:t>
            </a:r>
          </a:p>
        </p:txBody>
      </p:sp>
      <p:sp>
        <p:nvSpPr>
          <p:cNvPr id="7" name="TextBox 6">
            <a:extLst>
              <a:ext uri="{FF2B5EF4-FFF2-40B4-BE49-F238E27FC236}">
                <a16:creationId xmlns:a16="http://schemas.microsoft.com/office/drawing/2014/main" id="{08D74831-EE52-7126-A4FB-F7A6A9D0C949}"/>
              </a:ext>
            </a:extLst>
          </p:cNvPr>
          <p:cNvSpPr txBox="1"/>
          <p:nvPr/>
        </p:nvSpPr>
        <p:spPr>
          <a:xfrm>
            <a:off x="762000" y="2090172"/>
            <a:ext cx="8577943" cy="461665"/>
          </a:xfrm>
          <a:prstGeom prst="rect">
            <a:avLst/>
          </a:prstGeom>
          <a:noFill/>
        </p:spPr>
        <p:txBody>
          <a:bodyPr wrap="square" rtlCol="0">
            <a:spAutoFit/>
          </a:bodyPr>
          <a:lstStyle/>
          <a:p>
            <a:pPr algn="just"/>
            <a:endParaRPr lang="en-US" sz="2400" dirty="0">
              <a:latin typeface="Times New Roman" panose="02020603050405020304" pitchFamily="18" charset="0"/>
              <a:cs typeface="Times New Roman" panose="02020603050405020304" pitchFamily="18" charset="0"/>
            </a:endParaRPr>
          </a:p>
        </p:txBody>
      </p:sp>
      <p:graphicFrame>
        <p:nvGraphicFramePr>
          <p:cNvPr id="20" name="Table 19">
            <a:extLst>
              <a:ext uri="{FF2B5EF4-FFF2-40B4-BE49-F238E27FC236}">
                <a16:creationId xmlns:a16="http://schemas.microsoft.com/office/drawing/2014/main" id="{7F5E9BE2-3024-77D3-3B38-06E6BC12EDB6}"/>
              </a:ext>
            </a:extLst>
          </p:cNvPr>
          <p:cNvGraphicFramePr>
            <a:graphicFrameLocks noGrp="1"/>
          </p:cNvGraphicFramePr>
          <p:nvPr>
            <p:extLst>
              <p:ext uri="{D42A27DB-BD31-4B8C-83A1-F6EECF244321}">
                <p14:modId xmlns:p14="http://schemas.microsoft.com/office/powerpoint/2010/main" val="4107710571"/>
              </p:ext>
            </p:extLst>
          </p:nvPr>
        </p:nvGraphicFramePr>
        <p:xfrm>
          <a:off x="152400" y="867228"/>
          <a:ext cx="8839200" cy="5730240"/>
        </p:xfrm>
        <a:graphic>
          <a:graphicData uri="http://schemas.openxmlformats.org/drawingml/2006/table">
            <a:tbl>
              <a:tblPr firstRow="1" bandRow="1">
                <a:tableStyleId>{5C22544A-7EE6-4342-B048-85BDC9FD1C3A}</a:tableStyleId>
              </a:tblPr>
              <a:tblGrid>
                <a:gridCol w="860453">
                  <a:extLst>
                    <a:ext uri="{9D8B030D-6E8A-4147-A177-3AD203B41FA5}">
                      <a16:colId xmlns:a16="http://schemas.microsoft.com/office/drawing/2014/main" val="3548494656"/>
                    </a:ext>
                  </a:extLst>
                </a:gridCol>
                <a:gridCol w="2675227">
                  <a:extLst>
                    <a:ext uri="{9D8B030D-6E8A-4147-A177-3AD203B41FA5}">
                      <a16:colId xmlns:a16="http://schemas.microsoft.com/office/drawing/2014/main" val="1349914524"/>
                    </a:ext>
                  </a:extLst>
                </a:gridCol>
                <a:gridCol w="1767840">
                  <a:extLst>
                    <a:ext uri="{9D8B030D-6E8A-4147-A177-3AD203B41FA5}">
                      <a16:colId xmlns:a16="http://schemas.microsoft.com/office/drawing/2014/main" val="955958476"/>
                    </a:ext>
                  </a:extLst>
                </a:gridCol>
                <a:gridCol w="1767840">
                  <a:extLst>
                    <a:ext uri="{9D8B030D-6E8A-4147-A177-3AD203B41FA5}">
                      <a16:colId xmlns:a16="http://schemas.microsoft.com/office/drawing/2014/main" val="969076501"/>
                    </a:ext>
                  </a:extLst>
                </a:gridCol>
                <a:gridCol w="1767840">
                  <a:extLst>
                    <a:ext uri="{9D8B030D-6E8A-4147-A177-3AD203B41FA5}">
                      <a16:colId xmlns:a16="http://schemas.microsoft.com/office/drawing/2014/main" val="1153152707"/>
                    </a:ext>
                  </a:extLst>
                </a:gridCol>
              </a:tblGrid>
              <a:tr h="684150">
                <a:tc>
                  <a:txBody>
                    <a:bodyPr/>
                    <a:lstStyle/>
                    <a:p>
                      <a:r>
                        <a:rPr lang="en-IN" sz="2000" dirty="0">
                          <a:latin typeface="Times New Roman" panose="02020603050405020304" pitchFamily="18" charset="0"/>
                          <a:cs typeface="Times New Roman" panose="02020603050405020304" pitchFamily="18" charset="0"/>
                        </a:rPr>
                        <a:t>Sr. No.</a:t>
                      </a:r>
                    </a:p>
                  </a:txBody>
                  <a:tcPr/>
                </a:tc>
                <a:tc>
                  <a:txBody>
                    <a:bodyPr/>
                    <a:lstStyle/>
                    <a:p>
                      <a:r>
                        <a:rPr lang="en-IN" sz="2000" dirty="0">
                          <a:latin typeface="Times New Roman" panose="02020603050405020304" pitchFamily="18" charset="0"/>
                          <a:cs typeface="Times New Roman" panose="02020603050405020304" pitchFamily="18" charset="0"/>
                        </a:rPr>
                        <a:t>Paper/System</a:t>
                      </a:r>
                    </a:p>
                  </a:txBody>
                  <a:tcPr/>
                </a:tc>
                <a:tc>
                  <a:txBody>
                    <a:bodyPr/>
                    <a:lstStyle/>
                    <a:p>
                      <a:r>
                        <a:rPr lang="en-IN" sz="2000" dirty="0">
                          <a:latin typeface="Times New Roman" panose="02020603050405020304" pitchFamily="18" charset="0"/>
                          <a:cs typeface="Times New Roman" panose="02020603050405020304" pitchFamily="18" charset="0"/>
                        </a:rPr>
                        <a:t>Technology Used</a:t>
                      </a:r>
                    </a:p>
                  </a:txBody>
                  <a:tcPr/>
                </a:tc>
                <a:tc>
                  <a:txBody>
                    <a:bodyPr/>
                    <a:lstStyle/>
                    <a:p>
                      <a:r>
                        <a:rPr lang="en-IN" sz="2000" dirty="0">
                          <a:latin typeface="Times New Roman" panose="02020603050405020304" pitchFamily="18" charset="0"/>
                          <a:cs typeface="Times New Roman" panose="02020603050405020304" pitchFamily="18" charset="0"/>
                        </a:rPr>
                        <a:t>Advantages</a:t>
                      </a:r>
                    </a:p>
                  </a:txBody>
                  <a:tcPr/>
                </a:tc>
                <a:tc>
                  <a:txBody>
                    <a:bodyPr/>
                    <a:lstStyle/>
                    <a:p>
                      <a:r>
                        <a:rPr lang="en-IN" sz="2000"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1752206390"/>
                  </a:ext>
                </a:extLst>
              </a:tr>
              <a:tr h="981606">
                <a:tc>
                  <a:txBody>
                    <a:bodyPr/>
                    <a:lstStyle/>
                    <a:p>
                      <a:r>
                        <a:rPr lang="en-IN" sz="2000" dirty="0">
                          <a:latin typeface="Times New Roman" panose="02020603050405020304" pitchFamily="18" charset="0"/>
                          <a:cs typeface="Times New Roman" panose="02020603050405020304" pitchFamily="18" charset="0"/>
                        </a:rPr>
                        <a:t>1</a:t>
                      </a:r>
                    </a:p>
                  </a:txBody>
                  <a:tcPr/>
                </a:tc>
                <a:tc>
                  <a:txBody>
                    <a:bodyPr/>
                    <a:lstStyle/>
                    <a:p>
                      <a:r>
                        <a:rPr lang="en-IN" sz="2000" dirty="0"/>
                        <a:t>Smart Fuel Queue Management System (A. Kumar et al., 2022)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Queue Management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Reduces waiting time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No online slot booking</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26051824"/>
                  </a:ext>
                </a:extLst>
              </a:tr>
              <a:tr h="981606">
                <a:tc>
                  <a:txBody>
                    <a:bodyPr/>
                    <a:lstStyle/>
                    <a:p>
                      <a:r>
                        <a:rPr lang="en-IN" sz="2000" dirty="0">
                          <a:latin typeface="Times New Roman" panose="02020603050405020304" pitchFamily="18" charset="0"/>
                          <a:cs typeface="Times New Roman" panose="02020603050405020304" pitchFamily="18" charset="0"/>
                        </a:rPr>
                        <a:t>2</a:t>
                      </a:r>
                    </a:p>
                  </a:txBody>
                  <a:tcPr/>
                </a:tc>
                <a:tc>
                  <a:txBody>
                    <a:bodyPr/>
                    <a:lstStyle/>
                    <a:p>
                      <a:r>
                        <a:rPr lang="en-IN" sz="2000" dirty="0"/>
                        <a:t>Web-Based Reservation System (S. Patil et al., 2021)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PHP, MySQL</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Easy online booking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Limited scalability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8789970"/>
                  </a:ext>
                </a:extLst>
              </a:tr>
              <a:tr h="981606">
                <a:tc>
                  <a:txBody>
                    <a:bodyPr/>
                    <a:lstStyle/>
                    <a:p>
                      <a:r>
                        <a:rPr lang="en-IN" sz="2000" dirty="0">
                          <a:latin typeface="Times New Roman" panose="02020603050405020304" pitchFamily="18" charset="0"/>
                          <a:cs typeface="Times New Roman" panose="02020603050405020304" pitchFamily="18" charset="0"/>
                        </a:rPr>
                        <a:t>3</a:t>
                      </a:r>
                    </a:p>
                  </a:txBody>
                  <a:tcPr/>
                </a:tc>
                <a:tc>
                  <a:txBody>
                    <a:bodyPr/>
                    <a:lstStyle/>
                    <a:p>
                      <a:r>
                        <a:rPr lang="en-IN" sz="2000" dirty="0"/>
                        <a:t>IoT-Based Smart Fuel Monitoring (R. Sharma et al., 2023)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IoT Sensors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Real-time fuel monitoring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Requires additional hardware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97612663"/>
                  </a:ext>
                </a:extLst>
              </a:tr>
              <a:tr h="981606">
                <a:tc>
                  <a:txBody>
                    <a:bodyPr/>
                    <a:lstStyle/>
                    <a:p>
                      <a:r>
                        <a:rPr lang="en-IN" sz="2000" dirty="0">
                          <a:latin typeface="Times New Roman" panose="02020603050405020304" pitchFamily="18" charset="0"/>
                          <a:cs typeface="Times New Roman" panose="02020603050405020304" pitchFamily="18" charset="0"/>
                        </a:rPr>
                        <a:t>4</a:t>
                      </a:r>
                    </a:p>
                  </a:txBody>
                  <a:tcPr/>
                </a:tc>
                <a:tc>
                  <a:txBody>
                    <a:bodyPr/>
                    <a:lstStyle/>
                    <a:p>
                      <a:r>
                        <a:rPr lang="en-IN" sz="2000" dirty="0"/>
                        <a:t>Digital Queue Management System (M. Khan et al., 2021)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Queue Management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Better queue handling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No reservation feature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28588752"/>
                  </a:ext>
                </a:extLst>
              </a:tr>
              <a:tr h="386693">
                <a:tc>
                  <a:txBody>
                    <a:bodyPr/>
                    <a:lstStyle/>
                    <a:p>
                      <a:r>
                        <a:rPr lang="en-IN" sz="2000" dirty="0">
                          <a:latin typeface="Times New Roman" panose="02020603050405020304" pitchFamily="18" charset="0"/>
                          <a:cs typeface="Times New Roman" panose="02020603050405020304" pitchFamily="18" charset="0"/>
                        </a:rPr>
                        <a:t>5</a:t>
                      </a:r>
                    </a:p>
                  </a:txBody>
                  <a:tcPr/>
                </a:tc>
                <a:tc>
                  <a:txBody>
                    <a:bodyPr/>
                    <a:lstStyle/>
                    <a:p>
                      <a:r>
                        <a:rPr lang="en-IN" sz="2000" dirty="0"/>
                        <a:t>Queue Optimization in Fuel Stations (P. Verma et al., 2022)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Smart Scheduling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Improves station efficiency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No user booking module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93175183"/>
                  </a:ext>
                </a:extLst>
              </a:tr>
            </a:tbl>
          </a:graphicData>
        </a:graphic>
      </p:graphicFrame>
    </p:spTree>
    <p:extLst>
      <p:ext uri="{BB962C8B-B14F-4D97-AF65-F5344CB8AC3E}">
        <p14:creationId xmlns:p14="http://schemas.microsoft.com/office/powerpoint/2010/main" val="467461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C837C06-189F-6545-BE8C-2B34811135FA}"/>
              </a:ext>
            </a:extLst>
          </p:cNvPr>
          <p:cNvGraphicFramePr>
            <a:graphicFrameLocks noGrp="1"/>
          </p:cNvGraphicFramePr>
          <p:nvPr>
            <p:extLst>
              <p:ext uri="{D42A27DB-BD31-4B8C-83A1-F6EECF244321}">
                <p14:modId xmlns:p14="http://schemas.microsoft.com/office/powerpoint/2010/main" val="3377841646"/>
              </p:ext>
            </p:extLst>
          </p:nvPr>
        </p:nvGraphicFramePr>
        <p:xfrm>
          <a:off x="228600" y="304800"/>
          <a:ext cx="8839200" cy="5730240"/>
        </p:xfrm>
        <a:graphic>
          <a:graphicData uri="http://schemas.openxmlformats.org/drawingml/2006/table">
            <a:tbl>
              <a:tblPr firstRow="1" bandRow="1">
                <a:tableStyleId>{5C22544A-7EE6-4342-B048-85BDC9FD1C3A}</a:tableStyleId>
              </a:tblPr>
              <a:tblGrid>
                <a:gridCol w="860453">
                  <a:extLst>
                    <a:ext uri="{9D8B030D-6E8A-4147-A177-3AD203B41FA5}">
                      <a16:colId xmlns:a16="http://schemas.microsoft.com/office/drawing/2014/main" val="1182254463"/>
                    </a:ext>
                  </a:extLst>
                </a:gridCol>
                <a:gridCol w="2675227">
                  <a:extLst>
                    <a:ext uri="{9D8B030D-6E8A-4147-A177-3AD203B41FA5}">
                      <a16:colId xmlns:a16="http://schemas.microsoft.com/office/drawing/2014/main" val="2303433172"/>
                    </a:ext>
                  </a:extLst>
                </a:gridCol>
                <a:gridCol w="1767840">
                  <a:extLst>
                    <a:ext uri="{9D8B030D-6E8A-4147-A177-3AD203B41FA5}">
                      <a16:colId xmlns:a16="http://schemas.microsoft.com/office/drawing/2014/main" val="3730911193"/>
                    </a:ext>
                  </a:extLst>
                </a:gridCol>
                <a:gridCol w="1767840">
                  <a:extLst>
                    <a:ext uri="{9D8B030D-6E8A-4147-A177-3AD203B41FA5}">
                      <a16:colId xmlns:a16="http://schemas.microsoft.com/office/drawing/2014/main" val="735941458"/>
                    </a:ext>
                  </a:extLst>
                </a:gridCol>
                <a:gridCol w="1767840">
                  <a:extLst>
                    <a:ext uri="{9D8B030D-6E8A-4147-A177-3AD203B41FA5}">
                      <a16:colId xmlns:a16="http://schemas.microsoft.com/office/drawing/2014/main" val="1752092701"/>
                    </a:ext>
                  </a:extLst>
                </a:gridCol>
              </a:tblGrid>
              <a:tr h="684150">
                <a:tc>
                  <a:txBody>
                    <a:bodyPr/>
                    <a:lstStyle/>
                    <a:p>
                      <a:r>
                        <a:rPr lang="en-IN" sz="2000" dirty="0">
                          <a:latin typeface="Times New Roman" panose="02020603050405020304" pitchFamily="18" charset="0"/>
                          <a:cs typeface="Times New Roman" panose="02020603050405020304" pitchFamily="18" charset="0"/>
                        </a:rPr>
                        <a:t>Sr. No.</a:t>
                      </a:r>
                    </a:p>
                  </a:txBody>
                  <a:tcPr/>
                </a:tc>
                <a:tc>
                  <a:txBody>
                    <a:bodyPr/>
                    <a:lstStyle/>
                    <a:p>
                      <a:r>
                        <a:rPr lang="en-IN" sz="2000" dirty="0">
                          <a:latin typeface="Times New Roman" panose="02020603050405020304" pitchFamily="18" charset="0"/>
                          <a:cs typeface="Times New Roman" panose="02020603050405020304" pitchFamily="18" charset="0"/>
                        </a:rPr>
                        <a:t>Paper/System</a:t>
                      </a:r>
                    </a:p>
                  </a:txBody>
                  <a:tcPr/>
                </a:tc>
                <a:tc>
                  <a:txBody>
                    <a:bodyPr/>
                    <a:lstStyle/>
                    <a:p>
                      <a:r>
                        <a:rPr lang="en-IN" sz="2000" dirty="0">
                          <a:latin typeface="Times New Roman" panose="02020603050405020304" pitchFamily="18" charset="0"/>
                          <a:cs typeface="Times New Roman" panose="02020603050405020304" pitchFamily="18" charset="0"/>
                        </a:rPr>
                        <a:t>Technology Used</a:t>
                      </a:r>
                    </a:p>
                  </a:txBody>
                  <a:tcPr/>
                </a:tc>
                <a:tc>
                  <a:txBody>
                    <a:bodyPr/>
                    <a:lstStyle/>
                    <a:p>
                      <a:r>
                        <a:rPr lang="en-IN" sz="2000" dirty="0">
                          <a:latin typeface="Times New Roman" panose="02020603050405020304" pitchFamily="18" charset="0"/>
                          <a:cs typeface="Times New Roman" panose="02020603050405020304" pitchFamily="18" charset="0"/>
                        </a:rPr>
                        <a:t>Advantages</a:t>
                      </a:r>
                    </a:p>
                  </a:txBody>
                  <a:tcPr/>
                </a:tc>
                <a:tc>
                  <a:txBody>
                    <a:bodyPr/>
                    <a:lstStyle/>
                    <a:p>
                      <a:r>
                        <a:rPr lang="en-IN" sz="2000"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3136391227"/>
                  </a:ext>
                </a:extLst>
              </a:tr>
              <a:tr h="981606">
                <a:tc>
                  <a:txBody>
                    <a:bodyPr/>
                    <a:lstStyle/>
                    <a:p>
                      <a:r>
                        <a:rPr lang="en-IN" sz="2000" dirty="0">
                          <a:latin typeface="Times New Roman" panose="02020603050405020304" pitchFamily="18" charset="0"/>
                          <a:cs typeface="Times New Roman" panose="02020603050405020304" pitchFamily="18" charset="0"/>
                        </a:rPr>
                        <a:t>6</a:t>
                      </a:r>
                    </a:p>
                  </a:txBody>
                  <a:tcPr/>
                </a:tc>
                <a:tc>
                  <a:txBody>
                    <a:bodyPr/>
                    <a:lstStyle/>
                    <a:p>
                      <a:r>
                        <a:rPr lang="en-IN" sz="2000" dirty="0"/>
                        <a:t>Cloud-Based Reservation System (J. Lee et al., 2022)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Cloud Computing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Centralized management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Security and privacy concerns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3064002"/>
                  </a:ext>
                </a:extLst>
              </a:tr>
              <a:tr h="981606">
                <a:tc>
                  <a:txBody>
                    <a:bodyPr/>
                    <a:lstStyle/>
                    <a:p>
                      <a:r>
                        <a:rPr lang="en-IN" sz="2000" dirty="0">
                          <a:latin typeface="Times New Roman" panose="02020603050405020304" pitchFamily="18" charset="0"/>
                          <a:cs typeface="Times New Roman" panose="02020603050405020304" pitchFamily="18" charset="0"/>
                        </a:rPr>
                        <a:t>7</a:t>
                      </a:r>
                    </a:p>
                  </a:txBody>
                  <a:tcPr/>
                </a:tc>
                <a:tc>
                  <a:txBody>
                    <a:bodyPr/>
                    <a:lstStyle/>
                    <a:p>
                      <a:r>
                        <a:rPr lang="en-IN" sz="2000" dirty="0"/>
                        <a:t>Online Booking for Smart Services (S. Gupta et al., 2023)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Web Technologies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Convenient booking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Not designed for CNG stations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005235"/>
                  </a:ext>
                </a:extLst>
              </a:tr>
              <a:tr h="981606">
                <a:tc>
                  <a:txBody>
                    <a:bodyPr/>
                    <a:lstStyle/>
                    <a:p>
                      <a:r>
                        <a:rPr lang="en-IN" sz="2000" dirty="0">
                          <a:latin typeface="Times New Roman" panose="02020603050405020304" pitchFamily="18" charset="0"/>
                          <a:cs typeface="Times New Roman" panose="02020603050405020304" pitchFamily="18" charset="0"/>
                        </a:rPr>
                        <a:t>8</a:t>
                      </a:r>
                    </a:p>
                  </a:txBody>
                  <a:tcPr/>
                </a:tc>
                <a:tc>
                  <a:txBody>
                    <a:bodyPr/>
                    <a:lstStyle/>
                    <a:p>
                      <a:r>
                        <a:rPr lang="en-IN" sz="2000" dirty="0"/>
                        <a:t>IoT-Based Smart Fuel Monitoring (R. Sharma et al., 2023)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IoT Sensors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Real-time fuel monitoring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Requires additional hardware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66896037"/>
                  </a:ext>
                </a:extLst>
              </a:tr>
              <a:tr h="981606">
                <a:tc>
                  <a:txBody>
                    <a:bodyPr/>
                    <a:lstStyle/>
                    <a:p>
                      <a:r>
                        <a:rPr lang="en-IN" sz="2000" dirty="0">
                          <a:latin typeface="Times New Roman" panose="02020603050405020304" pitchFamily="18" charset="0"/>
                          <a:cs typeface="Times New Roman" panose="02020603050405020304" pitchFamily="18" charset="0"/>
                        </a:rPr>
                        <a:t>9</a:t>
                      </a:r>
                    </a:p>
                  </a:txBody>
                  <a:tcPr/>
                </a:tc>
                <a:tc>
                  <a:txBody>
                    <a:bodyPr/>
                    <a:lstStyle/>
                    <a:p>
                      <a:r>
                        <a:rPr lang="en-IN" sz="2000" dirty="0"/>
                        <a:t>Reservation Database System (T. Roy et al., 2021)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MySQL Database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Efficient data management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Limited real-time updates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4179857"/>
                  </a:ext>
                </a:extLst>
              </a:tr>
              <a:tr h="386693">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r>
                        <a:rPr lang="en-IN" sz="2000" dirty="0"/>
                        <a:t>Smart Service Web Applications (H. Mehta et al., 2022)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HTML, CSS, JavaScript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User-friendly interface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Limited booking functionality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11188126"/>
                  </a:ext>
                </a:extLst>
              </a:tr>
            </a:tbl>
          </a:graphicData>
        </a:graphic>
      </p:graphicFrame>
    </p:spTree>
    <p:extLst>
      <p:ext uri="{BB962C8B-B14F-4D97-AF65-F5344CB8AC3E}">
        <p14:creationId xmlns:p14="http://schemas.microsoft.com/office/powerpoint/2010/main" val="213313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F6CB8F-0448-43B7-F35E-3F623F014449}"/>
              </a:ext>
            </a:extLst>
          </p:cNvPr>
          <p:cNvSpPr txBox="1"/>
          <p:nvPr/>
        </p:nvSpPr>
        <p:spPr>
          <a:xfrm>
            <a:off x="1066800" y="1828800"/>
            <a:ext cx="6858000" cy="2677656"/>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How Our Project is Better</a:t>
            </a:r>
          </a:p>
          <a:p>
            <a:r>
              <a:rPr lang="en-IN" sz="2400" dirty="0">
                <a:latin typeface="Times New Roman" panose="02020603050405020304" pitchFamily="18" charset="0"/>
                <a:cs typeface="Times New Roman" panose="02020603050405020304" pitchFamily="18" charset="0"/>
              </a:rPr>
              <a:t>✔ Online CNG slot booking </a:t>
            </a:r>
          </a:p>
          <a:p>
            <a:r>
              <a:rPr lang="en-IN" sz="2400" dirty="0">
                <a:latin typeface="Times New Roman" panose="02020603050405020304" pitchFamily="18" charset="0"/>
                <a:cs typeface="Times New Roman" panose="02020603050405020304" pitchFamily="18" charset="0"/>
              </a:rPr>
              <a:t>✔ Real-time slot availability </a:t>
            </a:r>
          </a:p>
          <a:p>
            <a:r>
              <a:rPr lang="en-IN" sz="2400" dirty="0">
                <a:latin typeface="Times New Roman" panose="02020603050405020304" pitchFamily="18" charset="0"/>
                <a:cs typeface="Times New Roman" panose="02020603050405020304" pitchFamily="18" charset="0"/>
              </a:rPr>
              <a:t>✔ Separate dashboards for User, Seller, and Admin </a:t>
            </a:r>
          </a:p>
          <a:p>
            <a:r>
              <a:rPr lang="en-IN" sz="2400" dirty="0">
                <a:latin typeface="Times New Roman" panose="02020603050405020304" pitchFamily="18" charset="0"/>
                <a:cs typeface="Times New Roman" panose="02020603050405020304" pitchFamily="18" charset="0"/>
              </a:rPr>
              <a:t>✔ Easy reservation management </a:t>
            </a:r>
          </a:p>
          <a:p>
            <a:r>
              <a:rPr lang="en-IN" sz="2400" dirty="0">
                <a:latin typeface="Times New Roman" panose="02020603050405020304" pitchFamily="18" charset="0"/>
                <a:cs typeface="Times New Roman" panose="02020603050405020304" pitchFamily="18" charset="0"/>
              </a:rPr>
              <a:t>✔ Reduces waiting time and improves queue management</a:t>
            </a:r>
          </a:p>
        </p:txBody>
      </p:sp>
      <p:sp>
        <p:nvSpPr>
          <p:cNvPr id="7" name="Rounded Rectangle 3">
            <a:extLst>
              <a:ext uri="{FF2B5EF4-FFF2-40B4-BE49-F238E27FC236}">
                <a16:creationId xmlns:a16="http://schemas.microsoft.com/office/drawing/2014/main" id="{6B2D76D1-E00F-A114-B933-5301C5AB0E97}"/>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Literature Review / Existing Systems</a:t>
            </a:r>
          </a:p>
        </p:txBody>
      </p:sp>
    </p:spTree>
    <p:extLst>
      <p:ext uri="{BB962C8B-B14F-4D97-AF65-F5344CB8AC3E}">
        <p14:creationId xmlns:p14="http://schemas.microsoft.com/office/powerpoint/2010/main" val="4037038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F96E575A-F4DD-9ADB-F4A5-10F564D1A561}"/>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E4351963-7A0F-0D22-489C-BDB08CFF021F}"/>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Proposed Solution</a:t>
            </a:r>
          </a:p>
        </p:txBody>
      </p:sp>
      <p:sp>
        <p:nvSpPr>
          <p:cNvPr id="4" name="TextBox 3">
            <a:extLst>
              <a:ext uri="{FF2B5EF4-FFF2-40B4-BE49-F238E27FC236}">
                <a16:creationId xmlns:a16="http://schemas.microsoft.com/office/drawing/2014/main" id="{0A730746-2FF2-5DA1-3F86-2BE6E7C15DCF}"/>
              </a:ext>
            </a:extLst>
          </p:cNvPr>
          <p:cNvSpPr txBox="1"/>
          <p:nvPr/>
        </p:nvSpPr>
        <p:spPr>
          <a:xfrm>
            <a:off x="304800" y="986970"/>
            <a:ext cx="8839200" cy="452431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Smart CNG Reservation System provides a web-based platform where:</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Users register and log in.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Search nearby CNG stations.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Check slot availability.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Reserve preferred time slots.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Receive booking confirmation.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Admin manages stations and bookings.</a:t>
            </a:r>
          </a:p>
          <a:p>
            <a:pPr lvl="1"/>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Technologies Used</a:t>
            </a:r>
          </a:p>
          <a:p>
            <a:endParaRPr lang="en-IN" sz="2400" b="1" dirty="0">
              <a:latin typeface="Times New Roman" panose="02020603050405020304" pitchFamily="18" charset="0"/>
              <a:cs typeface="Times New Roman" panose="02020603050405020304" pitchFamily="18" charset="0"/>
            </a:endParaRPr>
          </a:p>
          <a:p>
            <a:pPr lvl="1"/>
            <a:endParaRPr lang="en-IN" sz="2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71A034AD-28C6-CD8C-9851-C666E43E0F64}"/>
              </a:ext>
            </a:extLst>
          </p:cNvPr>
          <p:cNvGraphicFramePr>
            <a:graphicFrameLocks noGrp="1"/>
          </p:cNvGraphicFramePr>
          <p:nvPr>
            <p:extLst>
              <p:ext uri="{D42A27DB-BD31-4B8C-83A1-F6EECF244321}">
                <p14:modId xmlns:p14="http://schemas.microsoft.com/office/powerpoint/2010/main" val="2991190967"/>
              </p:ext>
            </p:extLst>
          </p:nvPr>
        </p:nvGraphicFramePr>
        <p:xfrm>
          <a:off x="1066800" y="4769605"/>
          <a:ext cx="6096000" cy="1483360"/>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365794240"/>
                    </a:ext>
                  </a:extLst>
                </a:gridCol>
                <a:gridCol w="3048000">
                  <a:extLst>
                    <a:ext uri="{9D8B030D-6E8A-4147-A177-3AD203B41FA5}">
                      <a16:colId xmlns:a16="http://schemas.microsoft.com/office/drawing/2014/main" val="1399311151"/>
                    </a:ext>
                  </a:extLst>
                </a:gridCol>
              </a:tblGrid>
              <a:tr h="370840">
                <a:tc>
                  <a:txBody>
                    <a:bodyPr/>
                    <a:lstStyle/>
                    <a:p>
                      <a:pPr marL="285750" indent="-285750">
                        <a:buFont typeface="Wingdings" panose="05000000000000000000" pitchFamily="2" charset="2"/>
                        <a:buChar char="q"/>
                      </a:pPr>
                      <a:r>
                        <a:rPr lang="en-IN" dirty="0"/>
                        <a:t>HTML</a:t>
                      </a:r>
                    </a:p>
                  </a:txBody>
                  <a:tcPr/>
                </a:tc>
                <a:tc>
                  <a:txBody>
                    <a:bodyPr/>
                    <a:lstStyle/>
                    <a:p>
                      <a:pPr marL="285750" indent="-285750">
                        <a:buFont typeface="Wingdings" panose="05000000000000000000" pitchFamily="2" charset="2"/>
                        <a:buChar char="q"/>
                      </a:pPr>
                      <a:r>
                        <a:rPr lang="en-IN" dirty="0"/>
                        <a:t>CSS</a:t>
                      </a:r>
                    </a:p>
                  </a:txBody>
                  <a:tcPr/>
                </a:tc>
                <a:extLst>
                  <a:ext uri="{0D108BD9-81ED-4DB2-BD59-A6C34878D82A}">
                    <a16:rowId xmlns:a16="http://schemas.microsoft.com/office/drawing/2014/main" val="2677790468"/>
                  </a:ext>
                </a:extLst>
              </a:tr>
              <a:tr h="370840">
                <a:tc>
                  <a:txBody>
                    <a:bodyPr/>
                    <a:lstStyle/>
                    <a:p>
                      <a:pPr marL="285750" indent="-285750">
                        <a:buFont typeface="Wingdings" panose="05000000000000000000" pitchFamily="2" charset="2"/>
                        <a:buChar char="q"/>
                      </a:pPr>
                      <a:r>
                        <a:rPr lang="en-IN" dirty="0"/>
                        <a:t>JavaScript</a:t>
                      </a:r>
                    </a:p>
                  </a:txBody>
                  <a:tcPr/>
                </a:tc>
                <a:tc>
                  <a:txBody>
                    <a:bodyPr/>
                    <a:lstStyle/>
                    <a:p>
                      <a:pPr marL="285750" indent="-285750">
                        <a:buFont typeface="Wingdings" panose="05000000000000000000" pitchFamily="2" charset="2"/>
                        <a:buChar char="q"/>
                      </a:pPr>
                      <a:r>
                        <a:rPr lang="en-IN" dirty="0"/>
                        <a:t>JSP</a:t>
                      </a:r>
                    </a:p>
                  </a:txBody>
                  <a:tcPr/>
                </a:tc>
                <a:extLst>
                  <a:ext uri="{0D108BD9-81ED-4DB2-BD59-A6C34878D82A}">
                    <a16:rowId xmlns:a16="http://schemas.microsoft.com/office/drawing/2014/main" val="4154038113"/>
                  </a:ext>
                </a:extLst>
              </a:tr>
              <a:tr h="370840">
                <a:tc>
                  <a:txBody>
                    <a:bodyPr/>
                    <a:lstStyle/>
                    <a:p>
                      <a:pPr marL="285750" indent="-285750">
                        <a:buFont typeface="Wingdings" panose="05000000000000000000" pitchFamily="2" charset="2"/>
                        <a:buChar char="q"/>
                      </a:pPr>
                      <a:r>
                        <a:rPr lang="en-IN" dirty="0"/>
                        <a:t>Servlet</a:t>
                      </a:r>
                    </a:p>
                  </a:txBody>
                  <a:tcPr/>
                </a:tc>
                <a:tc>
                  <a:txBody>
                    <a:bodyPr/>
                    <a:lstStyle/>
                    <a:p>
                      <a:pPr marL="285750" indent="-285750">
                        <a:buFont typeface="Wingdings" panose="05000000000000000000" pitchFamily="2" charset="2"/>
                        <a:buChar char="q"/>
                      </a:pPr>
                      <a:r>
                        <a:rPr lang="en-IN" dirty="0"/>
                        <a:t>Java</a:t>
                      </a:r>
                    </a:p>
                  </a:txBody>
                  <a:tcPr/>
                </a:tc>
                <a:extLst>
                  <a:ext uri="{0D108BD9-81ED-4DB2-BD59-A6C34878D82A}">
                    <a16:rowId xmlns:a16="http://schemas.microsoft.com/office/drawing/2014/main" val="1155137653"/>
                  </a:ext>
                </a:extLst>
              </a:tr>
              <a:tr h="370840">
                <a:tc>
                  <a:txBody>
                    <a:bodyPr/>
                    <a:lstStyle/>
                    <a:p>
                      <a:pPr marL="285750" indent="-285750">
                        <a:buFont typeface="Wingdings" panose="05000000000000000000" pitchFamily="2" charset="2"/>
                        <a:buChar char="q"/>
                      </a:pPr>
                      <a:r>
                        <a:rPr lang="en-IN" dirty="0"/>
                        <a:t>MySQL</a:t>
                      </a:r>
                    </a:p>
                  </a:txBody>
                  <a:tcPr/>
                </a:tc>
                <a:tc>
                  <a:txBody>
                    <a:bodyPr/>
                    <a:lstStyle/>
                    <a:p>
                      <a:pPr marL="285750" indent="-285750">
                        <a:buFont typeface="Wingdings" panose="05000000000000000000" pitchFamily="2" charset="2"/>
                        <a:buChar char="q"/>
                      </a:pPr>
                      <a:r>
                        <a:rPr lang="en-IN" dirty="0"/>
                        <a:t>Apache Tomcat</a:t>
                      </a:r>
                    </a:p>
                  </a:txBody>
                  <a:tcPr/>
                </a:tc>
                <a:extLst>
                  <a:ext uri="{0D108BD9-81ED-4DB2-BD59-A6C34878D82A}">
                    <a16:rowId xmlns:a16="http://schemas.microsoft.com/office/drawing/2014/main" val="3003749143"/>
                  </a:ext>
                </a:extLst>
              </a:tr>
            </a:tbl>
          </a:graphicData>
        </a:graphic>
      </p:graphicFrame>
    </p:spTree>
    <p:extLst>
      <p:ext uri="{BB962C8B-B14F-4D97-AF65-F5344CB8AC3E}">
        <p14:creationId xmlns:p14="http://schemas.microsoft.com/office/powerpoint/2010/main" val="2530753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422CC-DBD3-CEDF-4D50-57708CF5CCD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9935B2E-3AFE-9E26-0642-5802C6371FE0}"/>
              </a:ext>
            </a:extLst>
          </p:cNvPr>
          <p:cNvSpPr>
            <a:spLocks noGrp="1"/>
          </p:cNvSpPr>
          <p:nvPr>
            <p:ph type="subTitle" idx="1"/>
          </p:nvPr>
        </p:nvSpPr>
        <p:spPr>
          <a:xfrm>
            <a:off x="0" y="0"/>
            <a:ext cx="9144000" cy="6858000"/>
          </a:xfrm>
        </p:spPr>
        <p:txBody>
          <a:bodyPr>
            <a:normAutofit/>
          </a:body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4" name="Rounded Rectangle 3">
            <a:extLst>
              <a:ext uri="{FF2B5EF4-FFF2-40B4-BE49-F238E27FC236}">
                <a16:creationId xmlns:a16="http://schemas.microsoft.com/office/drawing/2014/main" id="{92B38B23-7345-CCC9-99F6-553C1CDCBF67}"/>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System Architecture</a:t>
            </a:r>
          </a:p>
        </p:txBody>
      </p:sp>
      <p:pic>
        <p:nvPicPr>
          <p:cNvPr id="5" name="Picture 4">
            <a:extLst>
              <a:ext uri="{FF2B5EF4-FFF2-40B4-BE49-F238E27FC236}">
                <a16:creationId xmlns:a16="http://schemas.microsoft.com/office/drawing/2014/main" id="{D091023B-A694-97C9-AC59-28719C941DE8}"/>
              </a:ext>
            </a:extLst>
          </p:cNvPr>
          <p:cNvPicPr>
            <a:picLocks noChangeAspect="1"/>
          </p:cNvPicPr>
          <p:nvPr/>
        </p:nvPicPr>
        <p:blipFill rotWithShape="1">
          <a:blip r:embed="rId3">
            <a:extLst>
              <a:ext uri="{28A0092B-C50C-407E-A947-70E740481C1C}">
                <a14:useLocalDpi xmlns:a14="http://schemas.microsoft.com/office/drawing/2010/main" val="0"/>
              </a:ext>
            </a:extLst>
          </a:blip>
          <a:srcRect l="6725" r="3429"/>
          <a:stretch>
            <a:fillRect/>
          </a:stretch>
        </p:blipFill>
        <p:spPr bwMode="auto">
          <a:xfrm>
            <a:off x="838200" y="1371600"/>
            <a:ext cx="7391400" cy="4572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57658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BB9EDEE7-C397-BAE4-4E96-1AE3CC9B8466}"/>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F2C1EFFC-6DB5-A483-9952-AC523AD4F733}"/>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System Architecture</a:t>
            </a:r>
          </a:p>
        </p:txBody>
      </p:sp>
      <p:sp>
        <p:nvSpPr>
          <p:cNvPr id="6" name="TextBox 5">
            <a:extLst>
              <a:ext uri="{FF2B5EF4-FFF2-40B4-BE49-F238E27FC236}">
                <a16:creationId xmlns:a16="http://schemas.microsoft.com/office/drawing/2014/main" id="{442DB017-FFB6-6027-D055-E0D94103A363}"/>
              </a:ext>
            </a:extLst>
          </p:cNvPr>
          <p:cNvSpPr txBox="1"/>
          <p:nvPr/>
        </p:nvSpPr>
        <p:spPr>
          <a:xfrm>
            <a:off x="685800" y="1166842"/>
            <a:ext cx="7620000" cy="4524315"/>
          </a:xfrm>
          <a:prstGeom prst="rect">
            <a:avLst/>
          </a:prstGeom>
          <a:noFill/>
        </p:spPr>
        <p:txBody>
          <a:bodyPr wrap="square">
            <a:spAutoFit/>
          </a:bodyPr>
          <a:lstStyle/>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Users (CNG Vehicle Owners &amp; Pump Owners)</a:t>
            </a:r>
            <a:r>
              <a:rPr lang="en-IN" sz="2400" dirty="0">
                <a:latin typeface="Times New Roman" panose="02020603050405020304" pitchFamily="18" charset="0"/>
                <a:cs typeface="Times New Roman" panose="02020603050405020304" pitchFamily="18" charset="0"/>
              </a:rPr>
              <a:t> access the system through the </a:t>
            </a:r>
            <a:r>
              <a:rPr lang="en-IN" sz="2400" b="1" dirty="0">
                <a:latin typeface="Times New Roman" panose="02020603050405020304" pitchFamily="18" charset="0"/>
                <a:cs typeface="Times New Roman" panose="02020603050405020304" pitchFamily="18" charset="0"/>
              </a:rPr>
              <a:t>web application</a:t>
            </a:r>
            <a:r>
              <a:rPr lang="en-IN"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User Interface (JSP)</a:t>
            </a:r>
            <a:r>
              <a:rPr lang="en-IN" sz="2400" dirty="0">
                <a:latin typeface="Times New Roman" panose="02020603050405020304" pitchFamily="18" charset="0"/>
                <a:cs typeface="Times New Roman" panose="02020603050405020304" pitchFamily="18" charset="0"/>
              </a:rPr>
              <a:t> allows users to register, log in, and book CNG slots.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Business Logic (Java Servlets/Beans)</a:t>
            </a:r>
            <a:r>
              <a:rPr lang="en-IN" sz="2400" dirty="0">
                <a:latin typeface="Times New Roman" panose="02020603050405020304" pitchFamily="18" charset="0"/>
                <a:cs typeface="Times New Roman" panose="02020603050405020304" pitchFamily="18" charset="0"/>
              </a:rPr>
              <a:t> processes user requests, validates data, and manages bookings.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All user and booking information is stored in the </a:t>
            </a:r>
            <a:r>
              <a:rPr lang="en-IN" sz="2400" b="1" dirty="0">
                <a:latin typeface="Times New Roman" panose="02020603050405020304" pitchFamily="18" charset="0"/>
                <a:cs typeface="Times New Roman" panose="02020603050405020304" pitchFamily="18" charset="0"/>
              </a:rPr>
              <a:t>MySQL database</a:t>
            </a:r>
            <a:r>
              <a:rPr lang="en-IN"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Admin Dashboard</a:t>
            </a:r>
            <a:r>
              <a:rPr lang="en-IN" sz="2400" dirty="0">
                <a:latin typeface="Times New Roman" panose="02020603050405020304" pitchFamily="18" charset="0"/>
                <a:cs typeface="Times New Roman" panose="02020603050405020304" pitchFamily="18" charset="0"/>
              </a:rPr>
              <a:t> allows the administrator to manage users, CNG stations, and reservations.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API/Notification Service</a:t>
            </a:r>
            <a:r>
              <a:rPr lang="en-IN" sz="2400" dirty="0">
                <a:latin typeface="Times New Roman" panose="02020603050405020304" pitchFamily="18" charset="0"/>
                <a:cs typeface="Times New Roman" panose="02020603050405020304" pitchFamily="18" charset="0"/>
              </a:rPr>
              <a:t> sends booking confirmations and updates via </a:t>
            </a:r>
            <a:r>
              <a:rPr lang="en-IN" sz="2400" b="1" dirty="0">
                <a:latin typeface="Times New Roman" panose="02020603050405020304" pitchFamily="18" charset="0"/>
                <a:cs typeface="Times New Roman" panose="02020603050405020304" pitchFamily="18" charset="0"/>
              </a:rPr>
              <a:t>SMS or Email</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94460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FA7F392-649D-26F2-2960-F5CE54B802DB}"/>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1CCD308D-B444-CD6D-852B-B9BD9C796B61}"/>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Module Description</a:t>
            </a:r>
          </a:p>
        </p:txBody>
      </p:sp>
      <p:pic>
        <p:nvPicPr>
          <p:cNvPr id="10" name="Picture 9">
            <a:extLst>
              <a:ext uri="{FF2B5EF4-FFF2-40B4-BE49-F238E27FC236}">
                <a16:creationId xmlns:a16="http://schemas.microsoft.com/office/drawing/2014/main" id="{C6A23F9B-F346-735A-0390-2508C090E17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076" t="10043" r="5621" b="4434"/>
          <a:stretch>
            <a:fillRect/>
          </a:stretch>
        </p:blipFill>
        <p:spPr bwMode="auto">
          <a:xfrm>
            <a:off x="152400" y="914400"/>
            <a:ext cx="8610600" cy="56388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94766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51B707A-2A72-489B-8107-4010982D57FB}"/>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E129173C-9858-D5F2-3F7B-AAB310B400A2}"/>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Module Description</a:t>
            </a:r>
          </a:p>
        </p:txBody>
      </p:sp>
      <p:sp>
        <p:nvSpPr>
          <p:cNvPr id="9" name="TextBox 8">
            <a:extLst>
              <a:ext uri="{FF2B5EF4-FFF2-40B4-BE49-F238E27FC236}">
                <a16:creationId xmlns:a16="http://schemas.microsoft.com/office/drawing/2014/main" id="{07CEEB8F-1F04-5FDC-7462-584C1F80ACA3}"/>
              </a:ext>
            </a:extLst>
          </p:cNvPr>
          <p:cNvSpPr txBox="1"/>
          <p:nvPr/>
        </p:nvSpPr>
        <p:spPr>
          <a:xfrm>
            <a:off x="381000" y="1218424"/>
            <a:ext cx="8534400" cy="5262979"/>
          </a:xfrm>
          <a:prstGeom prst="rect">
            <a:avLst/>
          </a:prstGeom>
          <a:noFill/>
        </p:spPr>
        <p:txBody>
          <a:bodyPr wrap="square">
            <a:spAutoFit/>
          </a:bodyPr>
          <a:lstStyle/>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User Registration Module:</a:t>
            </a:r>
            <a:r>
              <a:rPr lang="en-IN" sz="2400" dirty="0">
                <a:latin typeface="Times New Roman" panose="02020603050405020304" pitchFamily="18" charset="0"/>
                <a:cs typeface="Times New Roman" panose="02020603050405020304" pitchFamily="18" charset="0"/>
              </a:rPr>
              <a:t> Allows new users to register and stores their details securely after validation. </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Login Module:</a:t>
            </a:r>
            <a:r>
              <a:rPr lang="en-IN" sz="2400" dirty="0">
                <a:latin typeface="Times New Roman" panose="02020603050405020304" pitchFamily="18" charset="0"/>
                <a:cs typeface="Times New Roman" panose="02020603050405020304" pitchFamily="18" charset="0"/>
              </a:rPr>
              <a:t> Authenticates users and administrators and provides secure access to the system. </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Station Management Module:</a:t>
            </a:r>
            <a:r>
              <a:rPr lang="en-IN" sz="2400" dirty="0">
                <a:latin typeface="Times New Roman" panose="02020603050405020304" pitchFamily="18" charset="0"/>
                <a:cs typeface="Times New Roman" panose="02020603050405020304" pitchFamily="18" charset="0"/>
              </a:rPr>
              <a:t> Enables the admin to add, update, and manage CNG stations and available slots. </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Slot Booking Module:</a:t>
            </a:r>
            <a:r>
              <a:rPr lang="en-IN" sz="2400" dirty="0">
                <a:latin typeface="Times New Roman" panose="02020603050405020304" pitchFamily="18" charset="0"/>
                <a:cs typeface="Times New Roman" panose="02020603050405020304" pitchFamily="18" charset="0"/>
              </a:rPr>
              <a:t> Allows users to select a station, choose a preferred date and time, and book a slot. </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Reservation Management Module:</a:t>
            </a:r>
            <a:r>
              <a:rPr lang="en-IN" sz="2400" dirty="0">
                <a:latin typeface="Times New Roman" panose="02020603050405020304" pitchFamily="18" charset="0"/>
                <a:cs typeface="Times New Roman" panose="02020603050405020304" pitchFamily="18" charset="0"/>
              </a:rPr>
              <a:t> Users can view booking history, check reservation status, update, or cancel bookings. </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Admin Module:</a:t>
            </a:r>
            <a:r>
              <a:rPr lang="en-IN" sz="2400" dirty="0">
                <a:latin typeface="Times New Roman" panose="02020603050405020304" pitchFamily="18" charset="0"/>
                <a:cs typeface="Times New Roman" panose="02020603050405020304" pitchFamily="18" charset="0"/>
              </a:rPr>
              <a:t> Admin manages users, stations, reservations, and generates reports. </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Notification Module:</a:t>
            </a:r>
            <a:r>
              <a:rPr lang="en-IN" sz="2400" dirty="0">
                <a:latin typeface="Times New Roman" panose="02020603050405020304" pitchFamily="18" charset="0"/>
                <a:cs typeface="Times New Roman" panose="02020603050405020304" pitchFamily="18" charset="0"/>
              </a:rPr>
              <a:t> Sends booking confirmations, slot updates, and reminder notifications via SMS or email.</a:t>
            </a:r>
          </a:p>
        </p:txBody>
      </p:sp>
    </p:spTree>
    <p:extLst>
      <p:ext uri="{BB962C8B-B14F-4D97-AF65-F5344CB8AC3E}">
        <p14:creationId xmlns:p14="http://schemas.microsoft.com/office/powerpoint/2010/main" val="1571825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22DD26D-B37E-76C4-8E8D-4C9408179EA9}"/>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73F236B9-C058-C1EF-EA3F-E92323403DAF}"/>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Technology Stack</a:t>
            </a:r>
          </a:p>
        </p:txBody>
      </p:sp>
      <p:graphicFrame>
        <p:nvGraphicFramePr>
          <p:cNvPr id="8" name="Table 7">
            <a:extLst>
              <a:ext uri="{FF2B5EF4-FFF2-40B4-BE49-F238E27FC236}">
                <a16:creationId xmlns:a16="http://schemas.microsoft.com/office/drawing/2014/main" id="{4CDF304E-7E4E-C067-DE1B-8B8CF7AA9F00}"/>
              </a:ext>
            </a:extLst>
          </p:cNvPr>
          <p:cNvGraphicFramePr>
            <a:graphicFrameLocks noGrp="1"/>
          </p:cNvGraphicFramePr>
          <p:nvPr>
            <p:extLst>
              <p:ext uri="{D42A27DB-BD31-4B8C-83A1-F6EECF244321}">
                <p14:modId xmlns:p14="http://schemas.microsoft.com/office/powerpoint/2010/main" val="2009682629"/>
              </p:ext>
            </p:extLst>
          </p:nvPr>
        </p:nvGraphicFramePr>
        <p:xfrm>
          <a:off x="952500" y="1600200"/>
          <a:ext cx="7239000" cy="3860800"/>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3479945145"/>
                    </a:ext>
                  </a:extLst>
                </a:gridCol>
                <a:gridCol w="3619500">
                  <a:extLst>
                    <a:ext uri="{9D8B030D-6E8A-4147-A177-3AD203B41FA5}">
                      <a16:colId xmlns:a16="http://schemas.microsoft.com/office/drawing/2014/main" val="3432891518"/>
                    </a:ext>
                  </a:extLst>
                </a:gridCol>
              </a:tblGrid>
              <a:tr h="482600">
                <a:tc>
                  <a:txBody>
                    <a:bodyPr/>
                    <a:lstStyle/>
                    <a:p>
                      <a:r>
                        <a:rPr lang="en-IN" sz="2400" dirty="0">
                          <a:latin typeface="Times New Roman" panose="02020603050405020304" pitchFamily="18" charset="0"/>
                          <a:cs typeface="Times New Roman" panose="02020603050405020304" pitchFamily="18" charset="0"/>
                        </a:rPr>
                        <a:t>Component</a:t>
                      </a:r>
                    </a:p>
                  </a:txBody>
                  <a:tcPr/>
                </a:tc>
                <a:tc>
                  <a:txBody>
                    <a:bodyPr/>
                    <a:lstStyle/>
                    <a:p>
                      <a:r>
                        <a:rPr lang="en-IN" sz="2400" dirty="0">
                          <a:latin typeface="Times New Roman" panose="02020603050405020304" pitchFamily="18" charset="0"/>
                          <a:cs typeface="Times New Roman" panose="02020603050405020304" pitchFamily="18" charset="0"/>
                        </a:rPr>
                        <a:t>Technology</a:t>
                      </a:r>
                    </a:p>
                  </a:txBody>
                  <a:tcPr/>
                </a:tc>
                <a:extLst>
                  <a:ext uri="{0D108BD9-81ED-4DB2-BD59-A6C34878D82A}">
                    <a16:rowId xmlns:a16="http://schemas.microsoft.com/office/drawing/2014/main" val="1952874731"/>
                  </a:ext>
                </a:extLst>
              </a:tr>
              <a:tr h="482600">
                <a:tc>
                  <a:txBody>
                    <a:bodyPr/>
                    <a:lstStyle/>
                    <a:p>
                      <a:r>
                        <a:rPr lang="en-IN" sz="2400" dirty="0">
                          <a:latin typeface="Times New Roman" panose="02020603050405020304" pitchFamily="18" charset="0"/>
                          <a:cs typeface="Times New Roman" panose="02020603050405020304" pitchFamily="18" charset="0"/>
                        </a:rPr>
                        <a:t>Frontend</a:t>
                      </a:r>
                    </a:p>
                  </a:txBody>
                  <a:tcPr/>
                </a:tc>
                <a:tc>
                  <a:txBody>
                    <a:bodyPr/>
                    <a:lstStyle/>
                    <a:p>
                      <a:r>
                        <a:rPr lang="en-IN" sz="2400" dirty="0">
                          <a:latin typeface="Times New Roman" panose="02020603050405020304" pitchFamily="18" charset="0"/>
                          <a:cs typeface="Times New Roman" panose="02020603050405020304" pitchFamily="18" charset="0"/>
                        </a:rPr>
                        <a:t>HTML, CSS, JavaScript</a:t>
                      </a:r>
                    </a:p>
                  </a:txBody>
                  <a:tcPr/>
                </a:tc>
                <a:extLst>
                  <a:ext uri="{0D108BD9-81ED-4DB2-BD59-A6C34878D82A}">
                    <a16:rowId xmlns:a16="http://schemas.microsoft.com/office/drawing/2014/main" val="1020447650"/>
                  </a:ext>
                </a:extLst>
              </a:tr>
              <a:tr h="482600">
                <a:tc>
                  <a:txBody>
                    <a:bodyPr/>
                    <a:lstStyle/>
                    <a:p>
                      <a:r>
                        <a:rPr lang="en-IN" sz="2400" dirty="0">
                          <a:latin typeface="Times New Roman" panose="02020603050405020304" pitchFamily="18" charset="0"/>
                          <a:cs typeface="Times New Roman" panose="02020603050405020304" pitchFamily="18" charset="0"/>
                        </a:rPr>
                        <a:t>Backend</a:t>
                      </a:r>
                    </a:p>
                  </a:txBody>
                  <a:tcPr/>
                </a:tc>
                <a:tc>
                  <a:txBody>
                    <a:bodyPr/>
                    <a:lstStyle/>
                    <a:p>
                      <a:r>
                        <a:rPr lang="en-IN" sz="2400" dirty="0">
                          <a:latin typeface="Times New Roman" panose="02020603050405020304" pitchFamily="18" charset="0"/>
                          <a:cs typeface="Times New Roman" panose="02020603050405020304" pitchFamily="18" charset="0"/>
                        </a:rPr>
                        <a:t>Java, JSP, Servlet</a:t>
                      </a:r>
                    </a:p>
                  </a:txBody>
                  <a:tcPr/>
                </a:tc>
                <a:extLst>
                  <a:ext uri="{0D108BD9-81ED-4DB2-BD59-A6C34878D82A}">
                    <a16:rowId xmlns:a16="http://schemas.microsoft.com/office/drawing/2014/main" val="3825569479"/>
                  </a:ext>
                </a:extLst>
              </a:tr>
              <a:tr h="482600">
                <a:tc>
                  <a:txBody>
                    <a:bodyPr/>
                    <a:lstStyle/>
                    <a:p>
                      <a:r>
                        <a:rPr lang="en-IN" sz="2400" dirty="0">
                          <a:latin typeface="Times New Roman" panose="02020603050405020304" pitchFamily="18" charset="0"/>
                          <a:cs typeface="Times New Roman" panose="02020603050405020304" pitchFamily="18" charset="0"/>
                        </a:rPr>
                        <a:t>Database</a:t>
                      </a:r>
                    </a:p>
                  </a:txBody>
                  <a:tcPr/>
                </a:tc>
                <a:tc>
                  <a:txBody>
                    <a:bodyPr/>
                    <a:lstStyle/>
                    <a:p>
                      <a:r>
                        <a:rPr lang="en-IN" sz="2400" dirty="0">
                          <a:latin typeface="Times New Roman" panose="02020603050405020304" pitchFamily="18" charset="0"/>
                          <a:cs typeface="Times New Roman" panose="02020603050405020304" pitchFamily="18" charset="0"/>
                        </a:rPr>
                        <a:t>MySQL</a:t>
                      </a:r>
                    </a:p>
                  </a:txBody>
                  <a:tcPr/>
                </a:tc>
                <a:extLst>
                  <a:ext uri="{0D108BD9-81ED-4DB2-BD59-A6C34878D82A}">
                    <a16:rowId xmlns:a16="http://schemas.microsoft.com/office/drawing/2014/main" val="4072818326"/>
                  </a:ext>
                </a:extLst>
              </a:tr>
              <a:tr h="482600">
                <a:tc>
                  <a:txBody>
                    <a:bodyPr/>
                    <a:lstStyle/>
                    <a:p>
                      <a:r>
                        <a:rPr lang="en-IN" sz="2400" dirty="0">
                          <a:latin typeface="Times New Roman" panose="02020603050405020304" pitchFamily="18" charset="0"/>
                          <a:cs typeface="Times New Roman" panose="02020603050405020304" pitchFamily="18" charset="0"/>
                        </a:rPr>
                        <a:t>Server</a:t>
                      </a:r>
                    </a:p>
                  </a:txBody>
                  <a:tcPr/>
                </a:tc>
                <a:tc>
                  <a:txBody>
                    <a:bodyPr/>
                    <a:lstStyle/>
                    <a:p>
                      <a:r>
                        <a:rPr lang="en-IN" sz="2400" dirty="0">
                          <a:latin typeface="Times New Roman" panose="02020603050405020304" pitchFamily="18" charset="0"/>
                          <a:cs typeface="Times New Roman" panose="02020603050405020304" pitchFamily="18" charset="0"/>
                        </a:rPr>
                        <a:t>Apache Tomcat</a:t>
                      </a:r>
                    </a:p>
                  </a:txBody>
                  <a:tcPr/>
                </a:tc>
                <a:extLst>
                  <a:ext uri="{0D108BD9-81ED-4DB2-BD59-A6C34878D82A}">
                    <a16:rowId xmlns:a16="http://schemas.microsoft.com/office/drawing/2014/main" val="3845121937"/>
                  </a:ext>
                </a:extLst>
              </a:tr>
              <a:tr h="482600">
                <a:tc>
                  <a:txBody>
                    <a:bodyPr/>
                    <a:lstStyle/>
                    <a:p>
                      <a:r>
                        <a:rPr lang="en-IN" sz="2400" dirty="0">
                          <a:latin typeface="Times New Roman" panose="02020603050405020304" pitchFamily="18" charset="0"/>
                          <a:cs typeface="Times New Roman" panose="02020603050405020304" pitchFamily="18" charset="0"/>
                        </a:rPr>
                        <a:t>IDE</a:t>
                      </a:r>
                    </a:p>
                  </a:txBody>
                  <a:tcPr/>
                </a:tc>
                <a:tc>
                  <a:txBody>
                    <a:bodyPr/>
                    <a:lstStyle/>
                    <a:p>
                      <a:r>
                        <a:rPr lang="en-IN" sz="2400" dirty="0">
                          <a:latin typeface="Times New Roman" panose="02020603050405020304" pitchFamily="18" charset="0"/>
                          <a:cs typeface="Times New Roman" panose="02020603050405020304" pitchFamily="18" charset="0"/>
                        </a:rPr>
                        <a:t>Eclipse</a:t>
                      </a:r>
                    </a:p>
                  </a:txBody>
                  <a:tcPr/>
                </a:tc>
                <a:extLst>
                  <a:ext uri="{0D108BD9-81ED-4DB2-BD59-A6C34878D82A}">
                    <a16:rowId xmlns:a16="http://schemas.microsoft.com/office/drawing/2014/main" val="3821978700"/>
                  </a:ext>
                </a:extLst>
              </a:tr>
              <a:tr h="482600">
                <a:tc>
                  <a:txBody>
                    <a:bodyPr/>
                    <a:lstStyle/>
                    <a:p>
                      <a:r>
                        <a:rPr lang="en-IN" sz="2400" dirty="0">
                          <a:latin typeface="Times New Roman" panose="02020603050405020304" pitchFamily="18" charset="0"/>
                          <a:cs typeface="Times New Roman" panose="02020603050405020304" pitchFamily="18" charset="0"/>
                        </a:rPr>
                        <a:t>Version Control</a:t>
                      </a:r>
                    </a:p>
                  </a:txBody>
                  <a:tcPr/>
                </a:tc>
                <a:tc>
                  <a:txBody>
                    <a:bodyPr/>
                    <a:lstStyle/>
                    <a:p>
                      <a:r>
                        <a:rPr lang="en-IN" sz="2400" dirty="0">
                          <a:latin typeface="Times New Roman" panose="02020603050405020304" pitchFamily="18" charset="0"/>
                          <a:cs typeface="Times New Roman" panose="02020603050405020304" pitchFamily="18" charset="0"/>
                        </a:rPr>
                        <a:t>Git</a:t>
                      </a:r>
                    </a:p>
                  </a:txBody>
                  <a:tcPr/>
                </a:tc>
                <a:extLst>
                  <a:ext uri="{0D108BD9-81ED-4DB2-BD59-A6C34878D82A}">
                    <a16:rowId xmlns:a16="http://schemas.microsoft.com/office/drawing/2014/main" val="1452236272"/>
                  </a:ext>
                </a:extLst>
              </a:tr>
              <a:tr h="482600">
                <a:tc>
                  <a:txBody>
                    <a:bodyPr/>
                    <a:lstStyle/>
                    <a:p>
                      <a:r>
                        <a:rPr lang="en-IN" sz="2400" dirty="0">
                          <a:latin typeface="Times New Roman" panose="02020603050405020304" pitchFamily="18" charset="0"/>
                          <a:cs typeface="Times New Roman" panose="02020603050405020304" pitchFamily="18" charset="0"/>
                        </a:rPr>
                        <a:t>Browser</a:t>
                      </a:r>
                    </a:p>
                  </a:txBody>
                  <a:tcPr/>
                </a:tc>
                <a:tc>
                  <a:txBody>
                    <a:bodyPr/>
                    <a:lstStyle/>
                    <a:p>
                      <a:r>
                        <a:rPr lang="en-IN" sz="2400" dirty="0">
                          <a:latin typeface="Times New Roman" panose="02020603050405020304" pitchFamily="18" charset="0"/>
                          <a:cs typeface="Times New Roman" panose="02020603050405020304" pitchFamily="18" charset="0"/>
                        </a:rPr>
                        <a:t>Chrome</a:t>
                      </a:r>
                    </a:p>
                  </a:txBody>
                  <a:tcPr/>
                </a:tc>
                <a:extLst>
                  <a:ext uri="{0D108BD9-81ED-4DB2-BD59-A6C34878D82A}">
                    <a16:rowId xmlns:a16="http://schemas.microsoft.com/office/drawing/2014/main" val="205810630"/>
                  </a:ext>
                </a:extLst>
              </a:tr>
            </a:tbl>
          </a:graphicData>
        </a:graphic>
      </p:graphicFrame>
    </p:spTree>
    <p:extLst>
      <p:ext uri="{BB962C8B-B14F-4D97-AF65-F5344CB8AC3E}">
        <p14:creationId xmlns:p14="http://schemas.microsoft.com/office/powerpoint/2010/main" val="2502780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0CB3107-B6F6-E536-315A-B9594F035FBC}"/>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1BF204A9-64B4-AAAB-947B-FC75FF264077}"/>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Implementation</a:t>
            </a:r>
          </a:p>
        </p:txBody>
      </p:sp>
      <p:pic>
        <p:nvPicPr>
          <p:cNvPr id="11" name="Image 4">
            <a:extLst>
              <a:ext uri="{FF2B5EF4-FFF2-40B4-BE49-F238E27FC236}">
                <a16:creationId xmlns:a16="http://schemas.microsoft.com/office/drawing/2014/main" id="{73A051A8-BEC3-A8C0-601B-9206E664093F}"/>
              </a:ext>
            </a:extLst>
          </p:cNvPr>
          <p:cNvPicPr>
            <a:picLocks/>
          </p:cNvPicPr>
          <p:nvPr/>
        </p:nvPicPr>
        <p:blipFill>
          <a:blip r:embed="rId2" cstate="print"/>
          <a:stretch>
            <a:fillRect/>
          </a:stretch>
        </p:blipFill>
        <p:spPr>
          <a:xfrm>
            <a:off x="4572000" y="960119"/>
            <a:ext cx="4190999" cy="2926081"/>
          </a:xfrm>
          <a:prstGeom prst="rect">
            <a:avLst/>
          </a:prstGeom>
        </p:spPr>
      </p:pic>
      <p:pic>
        <p:nvPicPr>
          <p:cNvPr id="12" name="Image 5">
            <a:extLst>
              <a:ext uri="{FF2B5EF4-FFF2-40B4-BE49-F238E27FC236}">
                <a16:creationId xmlns:a16="http://schemas.microsoft.com/office/drawing/2014/main" id="{00FE8422-1CD4-D3F6-044F-C78B0FD62CA5}"/>
              </a:ext>
            </a:extLst>
          </p:cNvPr>
          <p:cNvPicPr>
            <a:picLocks/>
          </p:cNvPicPr>
          <p:nvPr/>
        </p:nvPicPr>
        <p:blipFill>
          <a:blip r:embed="rId3" cstate="print"/>
          <a:stretch>
            <a:fillRect/>
          </a:stretch>
        </p:blipFill>
        <p:spPr>
          <a:xfrm>
            <a:off x="2362200" y="4004491"/>
            <a:ext cx="4800600" cy="2582821"/>
          </a:xfrm>
          <a:prstGeom prst="rect">
            <a:avLst/>
          </a:prstGeom>
        </p:spPr>
      </p:pic>
      <p:pic>
        <p:nvPicPr>
          <p:cNvPr id="14" name="Picture 13">
            <a:extLst>
              <a:ext uri="{FF2B5EF4-FFF2-40B4-BE49-F238E27FC236}">
                <a16:creationId xmlns:a16="http://schemas.microsoft.com/office/drawing/2014/main" id="{00B4DF84-6057-5E0A-271F-3F56738535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5421" y="960118"/>
            <a:ext cx="4190999" cy="2926081"/>
          </a:xfrm>
          <a:prstGeom prst="rect">
            <a:avLst/>
          </a:prstGeom>
        </p:spPr>
      </p:pic>
      <p:pic>
        <p:nvPicPr>
          <p:cNvPr id="16" name="Picture 15">
            <a:extLst>
              <a:ext uri="{FF2B5EF4-FFF2-40B4-BE49-F238E27FC236}">
                <a16:creationId xmlns:a16="http://schemas.microsoft.com/office/drawing/2014/main" id="{8A3C0F20-D554-6437-ADA1-566D6D8BABE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80920" y="4004491"/>
            <a:ext cx="5034280" cy="2780938"/>
          </a:xfrm>
          <a:prstGeom prst="rect">
            <a:avLst/>
          </a:prstGeom>
        </p:spPr>
      </p:pic>
    </p:spTree>
    <p:extLst>
      <p:ext uri="{BB962C8B-B14F-4D97-AF65-F5344CB8AC3E}">
        <p14:creationId xmlns:p14="http://schemas.microsoft.com/office/powerpoint/2010/main" val="58368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A19557D-0DCA-B684-7C26-F3466C432EE4}"/>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15A4714B-F3A3-B06C-804F-A834BDA55F7C}"/>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Implementation</a:t>
            </a:r>
          </a:p>
        </p:txBody>
      </p:sp>
      <p:sp>
        <p:nvSpPr>
          <p:cNvPr id="9" name="TextBox 8">
            <a:extLst>
              <a:ext uri="{FF2B5EF4-FFF2-40B4-BE49-F238E27FC236}">
                <a16:creationId xmlns:a16="http://schemas.microsoft.com/office/drawing/2014/main" id="{4ECAAB31-A271-F706-3485-79DFC7C7668C}"/>
              </a:ext>
            </a:extLst>
          </p:cNvPr>
          <p:cNvSpPr txBox="1"/>
          <p:nvPr/>
        </p:nvSpPr>
        <p:spPr>
          <a:xfrm>
            <a:off x="266700" y="1143000"/>
            <a:ext cx="8610600" cy="4893647"/>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The Smart CNG Reservation System is implemented as a web application using </a:t>
            </a:r>
            <a:r>
              <a:rPr lang="en-IN" sz="2400" b="1" dirty="0">
                <a:latin typeface="Times New Roman" panose="02020603050405020304" pitchFamily="18" charset="0"/>
                <a:cs typeface="Times New Roman" panose="02020603050405020304" pitchFamily="18" charset="0"/>
              </a:rPr>
              <a:t>JSP, Servlets, Java, MySQL, HTML, CSS, and JavaScript</a:t>
            </a:r>
            <a:r>
              <a:rPr lang="en-IN" sz="2400" dirty="0">
                <a:latin typeface="Times New Roman" panose="02020603050405020304" pitchFamily="18" charset="0"/>
                <a:cs typeface="Times New Roman" panose="02020603050405020304" pitchFamily="18" charset="0"/>
              </a:rPr>
              <a:t>. The system provides separate interfaces for users, CNG station owners, and administrators.</a:t>
            </a:r>
          </a:p>
          <a:p>
            <a:pPr>
              <a:buNone/>
            </a:pPr>
            <a:endParaRPr lang="en-IN" sz="2400" dirty="0">
              <a:latin typeface="Times New Roman" panose="02020603050405020304" pitchFamily="18" charset="0"/>
              <a:cs typeface="Times New Roman" panose="02020603050405020304" pitchFamily="18" charset="0"/>
            </a:endParaRPr>
          </a:p>
          <a:p>
            <a:pPr>
              <a:buNone/>
            </a:pPr>
            <a:r>
              <a:rPr lang="en-IN" sz="2400" b="1" dirty="0">
                <a:latin typeface="Times New Roman" panose="02020603050405020304" pitchFamily="18" charset="0"/>
                <a:cs typeface="Times New Roman" panose="02020603050405020304" pitchFamily="18" charset="0"/>
              </a:rPr>
              <a:t>Key Features:</a:t>
            </a:r>
          </a:p>
          <a:p>
            <a:pPr>
              <a:buNone/>
            </a:pP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User Dashboard:</a:t>
            </a:r>
            <a:r>
              <a:rPr lang="en-IN" sz="2400" dirty="0">
                <a:latin typeface="Times New Roman" panose="02020603050405020304" pitchFamily="18" charset="0"/>
                <a:cs typeface="Times New Roman" panose="02020603050405020304" pitchFamily="18" charset="0"/>
              </a:rPr>
              <a:t> Users can view stations, book CNG slots, and manage reservations. </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CNG Seller Dashboard:</a:t>
            </a:r>
            <a:r>
              <a:rPr lang="en-IN" sz="2400" dirty="0">
                <a:latin typeface="Times New Roman" panose="02020603050405020304" pitchFamily="18" charset="0"/>
                <a:cs typeface="Times New Roman" panose="02020603050405020304" pitchFamily="18" charset="0"/>
              </a:rPr>
              <a:t> Sellers can manage station details, available slots, and customer bookings. </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Admin Dashboard:</a:t>
            </a:r>
            <a:r>
              <a:rPr lang="en-IN" sz="2400" dirty="0">
                <a:latin typeface="Times New Roman" panose="02020603050405020304" pitchFamily="18" charset="0"/>
                <a:cs typeface="Times New Roman" panose="02020603050405020304" pitchFamily="18" charset="0"/>
              </a:rPr>
              <a:t> Admin monitors users, bookings, stations, and system activities.</a:t>
            </a:r>
          </a:p>
        </p:txBody>
      </p:sp>
    </p:spTree>
    <p:extLst>
      <p:ext uri="{BB962C8B-B14F-4D97-AF65-F5344CB8AC3E}">
        <p14:creationId xmlns:p14="http://schemas.microsoft.com/office/powerpoint/2010/main" val="472847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FBC792A8-5C68-8DBA-AF1D-707C6170207E}"/>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D12DD93D-B843-C06C-0D05-596EB1B11C52}"/>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Testing</a:t>
            </a:r>
          </a:p>
        </p:txBody>
      </p:sp>
      <p:graphicFrame>
        <p:nvGraphicFramePr>
          <p:cNvPr id="5" name="Table 4">
            <a:extLst>
              <a:ext uri="{FF2B5EF4-FFF2-40B4-BE49-F238E27FC236}">
                <a16:creationId xmlns:a16="http://schemas.microsoft.com/office/drawing/2014/main" id="{977B0A02-D7B3-99A7-EC1B-A70A2CD68577}"/>
              </a:ext>
            </a:extLst>
          </p:cNvPr>
          <p:cNvGraphicFramePr>
            <a:graphicFrameLocks noGrp="1"/>
          </p:cNvGraphicFramePr>
          <p:nvPr>
            <p:extLst>
              <p:ext uri="{D42A27DB-BD31-4B8C-83A1-F6EECF244321}">
                <p14:modId xmlns:p14="http://schemas.microsoft.com/office/powerpoint/2010/main" val="3765533882"/>
              </p:ext>
            </p:extLst>
          </p:nvPr>
        </p:nvGraphicFramePr>
        <p:xfrm>
          <a:off x="1524000" y="1397000"/>
          <a:ext cx="6096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508313331"/>
                    </a:ext>
                  </a:extLst>
                </a:gridCol>
                <a:gridCol w="2032000">
                  <a:extLst>
                    <a:ext uri="{9D8B030D-6E8A-4147-A177-3AD203B41FA5}">
                      <a16:colId xmlns:a16="http://schemas.microsoft.com/office/drawing/2014/main" val="2299601700"/>
                    </a:ext>
                  </a:extLst>
                </a:gridCol>
                <a:gridCol w="2032000">
                  <a:extLst>
                    <a:ext uri="{9D8B030D-6E8A-4147-A177-3AD203B41FA5}">
                      <a16:colId xmlns:a16="http://schemas.microsoft.com/office/drawing/2014/main" val="361940819"/>
                    </a:ext>
                  </a:extLst>
                </a:gridCol>
              </a:tblGrid>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825833793"/>
                  </a:ext>
                </a:extLst>
              </a:tr>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583832679"/>
                  </a:ext>
                </a:extLst>
              </a:tr>
              <a:tr h="370840">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618144696"/>
                  </a:ext>
                </a:extLst>
              </a:tr>
            </a:tbl>
          </a:graphicData>
        </a:graphic>
      </p:graphicFrame>
      <p:graphicFrame>
        <p:nvGraphicFramePr>
          <p:cNvPr id="6" name="Table 5">
            <a:extLst>
              <a:ext uri="{FF2B5EF4-FFF2-40B4-BE49-F238E27FC236}">
                <a16:creationId xmlns:a16="http://schemas.microsoft.com/office/drawing/2014/main" id="{DC221BC6-AE3E-9A75-3112-5DF48315EB02}"/>
              </a:ext>
            </a:extLst>
          </p:cNvPr>
          <p:cNvGraphicFramePr>
            <a:graphicFrameLocks noGrp="1"/>
          </p:cNvGraphicFramePr>
          <p:nvPr>
            <p:extLst>
              <p:ext uri="{D42A27DB-BD31-4B8C-83A1-F6EECF244321}">
                <p14:modId xmlns:p14="http://schemas.microsoft.com/office/powerpoint/2010/main" val="3160054380"/>
              </p:ext>
            </p:extLst>
          </p:nvPr>
        </p:nvGraphicFramePr>
        <p:xfrm>
          <a:off x="419100" y="955040"/>
          <a:ext cx="8305800" cy="3108960"/>
        </p:xfrm>
        <a:graphic>
          <a:graphicData uri="http://schemas.openxmlformats.org/drawingml/2006/table">
            <a:tbl>
              <a:tblPr firstRow="1" bandRow="1">
                <a:tableStyleId>{5C22544A-7EE6-4342-B048-85BDC9FD1C3A}</a:tableStyleId>
              </a:tblPr>
              <a:tblGrid>
                <a:gridCol w="2768600">
                  <a:extLst>
                    <a:ext uri="{9D8B030D-6E8A-4147-A177-3AD203B41FA5}">
                      <a16:colId xmlns:a16="http://schemas.microsoft.com/office/drawing/2014/main" val="3683022011"/>
                    </a:ext>
                  </a:extLst>
                </a:gridCol>
                <a:gridCol w="2768600">
                  <a:extLst>
                    <a:ext uri="{9D8B030D-6E8A-4147-A177-3AD203B41FA5}">
                      <a16:colId xmlns:a16="http://schemas.microsoft.com/office/drawing/2014/main" val="3190539085"/>
                    </a:ext>
                  </a:extLst>
                </a:gridCol>
                <a:gridCol w="2768600">
                  <a:extLst>
                    <a:ext uri="{9D8B030D-6E8A-4147-A177-3AD203B41FA5}">
                      <a16:colId xmlns:a16="http://schemas.microsoft.com/office/drawing/2014/main" val="465805189"/>
                    </a:ext>
                  </a:extLst>
                </a:gridCol>
              </a:tblGrid>
              <a:tr h="370840">
                <a:tc>
                  <a:txBody>
                    <a:bodyPr/>
                    <a:lstStyle/>
                    <a:p>
                      <a:r>
                        <a:rPr lang="en-IN" sz="2000" dirty="0">
                          <a:latin typeface="Times New Roman" panose="02020603050405020304" pitchFamily="18" charset="0"/>
                          <a:cs typeface="Times New Roman" panose="02020603050405020304" pitchFamily="18" charset="0"/>
                        </a:rPr>
                        <a:t>Testing Type</a:t>
                      </a:r>
                    </a:p>
                  </a:txBody>
                  <a:tcPr/>
                </a:tc>
                <a:tc>
                  <a:txBody>
                    <a:bodyPr/>
                    <a:lstStyle/>
                    <a:p>
                      <a:r>
                        <a:rPr lang="en-IN" sz="2000" dirty="0">
                          <a:latin typeface="Times New Roman" panose="02020603050405020304" pitchFamily="18" charset="0"/>
                          <a:cs typeface="Times New Roman" panose="02020603050405020304" pitchFamily="18" charset="0"/>
                        </a:rPr>
                        <a:t>Description</a:t>
                      </a:r>
                    </a:p>
                  </a:txBody>
                  <a:tcPr/>
                </a:tc>
                <a:tc>
                  <a:txBody>
                    <a:bodyPr/>
                    <a:lstStyle/>
                    <a:p>
                      <a:r>
                        <a:rPr lang="en-IN" sz="2000" dirty="0">
                          <a:latin typeface="Times New Roman" panose="02020603050405020304" pitchFamily="18" charset="0"/>
                          <a:cs typeface="Times New Roman" panose="02020603050405020304" pitchFamily="18" charset="0"/>
                        </a:rPr>
                        <a:t>Status</a:t>
                      </a:r>
                    </a:p>
                  </a:txBody>
                  <a:tcPr/>
                </a:tc>
                <a:extLst>
                  <a:ext uri="{0D108BD9-81ED-4DB2-BD59-A6C34878D82A}">
                    <a16:rowId xmlns:a16="http://schemas.microsoft.com/office/drawing/2014/main" val="1843542640"/>
                  </a:ext>
                </a:extLst>
              </a:tr>
              <a:tr h="370840">
                <a:tc>
                  <a:txBody>
                    <a:bodyPr/>
                    <a:lstStyle/>
                    <a:p>
                      <a:r>
                        <a:rPr lang="en-IN" sz="2000" dirty="0">
                          <a:latin typeface="Times New Roman" panose="02020603050405020304" pitchFamily="18" charset="0"/>
                          <a:cs typeface="Times New Roman" panose="02020603050405020304" pitchFamily="18" charset="0"/>
                        </a:rPr>
                        <a:t>Unit Testing</a:t>
                      </a:r>
                    </a:p>
                  </a:txBody>
                  <a:tcPr/>
                </a:tc>
                <a:tc>
                  <a:txBody>
                    <a:bodyPr/>
                    <a:lstStyle/>
                    <a:p>
                      <a:r>
                        <a:rPr lang="en-IN" sz="2000" dirty="0">
                          <a:latin typeface="Times New Roman" panose="02020603050405020304" pitchFamily="18" charset="0"/>
                          <a:cs typeface="Times New Roman" panose="02020603050405020304" pitchFamily="18" charset="0"/>
                        </a:rPr>
                        <a:t>Tested individual modules like Login and Booking</a:t>
                      </a:r>
                    </a:p>
                  </a:txBody>
                  <a:tcPr/>
                </a:tc>
                <a:tc>
                  <a:txBody>
                    <a:bodyPr/>
                    <a:lstStyle/>
                    <a:p>
                      <a:r>
                        <a:rPr lang="en-IN" sz="2000" dirty="0">
                          <a:latin typeface="Times New Roman" panose="02020603050405020304" pitchFamily="18" charset="0"/>
                          <a:cs typeface="Times New Roman" panose="02020603050405020304" pitchFamily="18" charset="0"/>
                        </a:rPr>
                        <a:t>✅ Passed</a:t>
                      </a:r>
                    </a:p>
                  </a:txBody>
                  <a:tcPr/>
                </a:tc>
                <a:extLst>
                  <a:ext uri="{0D108BD9-81ED-4DB2-BD59-A6C34878D82A}">
                    <a16:rowId xmlns:a16="http://schemas.microsoft.com/office/drawing/2014/main" val="1941942609"/>
                  </a:ext>
                </a:extLst>
              </a:tr>
              <a:tr h="370840">
                <a:tc>
                  <a:txBody>
                    <a:bodyPr/>
                    <a:lstStyle/>
                    <a:p>
                      <a:r>
                        <a:rPr lang="en-IN" sz="2000" dirty="0">
                          <a:latin typeface="Times New Roman" panose="02020603050405020304" pitchFamily="18" charset="0"/>
                          <a:cs typeface="Times New Roman" panose="02020603050405020304" pitchFamily="18" charset="0"/>
                        </a:rPr>
                        <a:t>Integration Testing</a:t>
                      </a:r>
                    </a:p>
                  </a:txBody>
                  <a:tcPr/>
                </a:tc>
                <a:tc>
                  <a:txBody>
                    <a:bodyPr/>
                    <a:lstStyle/>
                    <a:p>
                      <a:r>
                        <a:rPr lang="en-IN" sz="2000" dirty="0">
                          <a:latin typeface="Times New Roman" panose="02020603050405020304" pitchFamily="18" charset="0"/>
                          <a:cs typeface="Times New Roman" panose="02020603050405020304" pitchFamily="18" charset="0"/>
                        </a:rPr>
                        <a:t>Verified interaction between modules and database</a:t>
                      </a:r>
                    </a:p>
                  </a:txBody>
                  <a:tcPr/>
                </a:tc>
                <a:tc>
                  <a:txBody>
                    <a:bodyPr/>
                    <a:lstStyle/>
                    <a:p>
                      <a:r>
                        <a:rPr lang="en-IN" sz="2000" dirty="0">
                          <a:latin typeface="Times New Roman" panose="02020603050405020304" pitchFamily="18" charset="0"/>
                          <a:cs typeface="Times New Roman" panose="02020603050405020304" pitchFamily="18" charset="0"/>
                        </a:rPr>
                        <a:t>✅ Passed</a:t>
                      </a:r>
                    </a:p>
                  </a:txBody>
                  <a:tcPr/>
                </a:tc>
                <a:extLst>
                  <a:ext uri="{0D108BD9-81ED-4DB2-BD59-A6C34878D82A}">
                    <a16:rowId xmlns:a16="http://schemas.microsoft.com/office/drawing/2014/main" val="1655845457"/>
                  </a:ext>
                </a:extLst>
              </a:tr>
              <a:tr h="370840">
                <a:tc>
                  <a:txBody>
                    <a:bodyPr/>
                    <a:lstStyle/>
                    <a:p>
                      <a:r>
                        <a:rPr lang="en-IN" sz="2000" dirty="0">
                          <a:latin typeface="Times New Roman" panose="02020603050405020304" pitchFamily="18" charset="0"/>
                          <a:cs typeface="Times New Roman" panose="02020603050405020304" pitchFamily="18" charset="0"/>
                        </a:rPr>
                        <a:t>System Testing</a:t>
                      </a:r>
                    </a:p>
                  </a:txBody>
                  <a:tcPr/>
                </a:tc>
                <a:tc>
                  <a:txBody>
                    <a:bodyPr/>
                    <a:lstStyle/>
                    <a:p>
                      <a:r>
                        <a:rPr lang="en-IN" sz="2000" dirty="0">
                          <a:latin typeface="Times New Roman" panose="02020603050405020304" pitchFamily="18" charset="0"/>
                          <a:cs typeface="Times New Roman" panose="02020603050405020304" pitchFamily="18" charset="0"/>
                        </a:rPr>
                        <a:t>Tested the complete application workflow</a:t>
                      </a:r>
                    </a:p>
                  </a:txBody>
                  <a:tcPr/>
                </a:tc>
                <a:tc>
                  <a:txBody>
                    <a:bodyPr/>
                    <a:lstStyle/>
                    <a:p>
                      <a:r>
                        <a:rPr lang="en-IN" sz="2000" dirty="0">
                          <a:latin typeface="Times New Roman" panose="02020603050405020304" pitchFamily="18" charset="0"/>
                          <a:cs typeface="Times New Roman" panose="02020603050405020304" pitchFamily="18" charset="0"/>
                        </a:rPr>
                        <a:t>✅ Passed</a:t>
                      </a:r>
                    </a:p>
                  </a:txBody>
                  <a:tcPr/>
                </a:tc>
                <a:extLst>
                  <a:ext uri="{0D108BD9-81ED-4DB2-BD59-A6C34878D82A}">
                    <a16:rowId xmlns:a16="http://schemas.microsoft.com/office/drawing/2014/main" val="1204909833"/>
                  </a:ext>
                </a:extLst>
              </a:tr>
            </a:tbl>
          </a:graphicData>
        </a:graphic>
      </p:graphicFrame>
      <p:sp>
        <p:nvSpPr>
          <p:cNvPr id="9" name="TextBox 8">
            <a:extLst>
              <a:ext uri="{FF2B5EF4-FFF2-40B4-BE49-F238E27FC236}">
                <a16:creationId xmlns:a16="http://schemas.microsoft.com/office/drawing/2014/main" id="{D7887187-F316-7188-738E-6EBABA9AD747}"/>
              </a:ext>
            </a:extLst>
          </p:cNvPr>
          <p:cNvSpPr txBox="1"/>
          <p:nvPr/>
        </p:nvSpPr>
        <p:spPr>
          <a:xfrm>
            <a:off x="152400" y="4267200"/>
            <a:ext cx="8839200" cy="2677656"/>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Tools Used:</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Eclipse IDE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Apache Tomcat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MySQL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Google Chrome </a:t>
            </a:r>
          </a:p>
          <a:p>
            <a:r>
              <a:rPr lang="en-IN" sz="2400" b="1" dirty="0">
                <a:latin typeface="Times New Roman" panose="02020603050405020304" pitchFamily="18" charset="0"/>
                <a:cs typeface="Times New Roman" panose="02020603050405020304" pitchFamily="18" charset="0"/>
              </a:rPr>
              <a:t>Result:</a:t>
            </a:r>
            <a:r>
              <a:rPr lang="en-IN" sz="2400" dirty="0">
                <a:latin typeface="Times New Roman" panose="02020603050405020304" pitchFamily="18" charset="0"/>
                <a:cs typeface="Times New Roman" panose="02020603050405020304" pitchFamily="18" charset="0"/>
              </a:rPr>
              <a:t> All core functionalities worked successfully without major errors.</a:t>
            </a:r>
          </a:p>
        </p:txBody>
      </p:sp>
    </p:spTree>
    <p:extLst>
      <p:ext uri="{BB962C8B-B14F-4D97-AF65-F5344CB8AC3E}">
        <p14:creationId xmlns:p14="http://schemas.microsoft.com/office/powerpoint/2010/main" val="228655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8B51BDEE-36B1-BB35-E7C1-4CD771C67ED3}"/>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7F6759A8-0CB3-7A03-2089-4C8E7D9AE37F}"/>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Result &amp; Output</a:t>
            </a:r>
          </a:p>
        </p:txBody>
      </p:sp>
      <p:sp>
        <p:nvSpPr>
          <p:cNvPr id="4" name="TextBox 3">
            <a:extLst>
              <a:ext uri="{FF2B5EF4-FFF2-40B4-BE49-F238E27FC236}">
                <a16:creationId xmlns:a16="http://schemas.microsoft.com/office/drawing/2014/main" id="{7C93D4AE-0D90-0BC6-C754-1DEB1E2A5564}"/>
              </a:ext>
            </a:extLst>
          </p:cNvPr>
          <p:cNvSpPr txBox="1"/>
          <p:nvPr/>
        </p:nvSpPr>
        <p:spPr>
          <a:xfrm>
            <a:off x="381000" y="990600"/>
            <a:ext cx="8382000" cy="5632311"/>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Result:</a:t>
            </a:r>
          </a:p>
          <a:p>
            <a:pPr algn="just"/>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Successfully implemented online CNG slot booking.</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Reduced manual queue management.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Users can view available slots in real time.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Booking details are securely stored in the database.</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Admin can efficiently manage stations and reservations.</a:t>
            </a: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Output:</a:t>
            </a:r>
          </a:p>
          <a:p>
            <a:pPr algn="just"/>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IN" sz="2400" dirty="0"/>
              <a:t>User Registration</a:t>
            </a:r>
          </a:p>
          <a:p>
            <a:pPr marL="342900" indent="-342900">
              <a:buFont typeface="Wingdings" panose="05000000000000000000" pitchFamily="2" charset="2"/>
              <a:buChar char="ü"/>
            </a:pPr>
            <a:r>
              <a:rPr lang="en-IN" sz="2400" dirty="0"/>
              <a:t>Secure Login</a:t>
            </a:r>
          </a:p>
          <a:p>
            <a:pPr marL="342900" indent="-342900">
              <a:buFont typeface="Wingdings" panose="05000000000000000000" pitchFamily="2" charset="2"/>
              <a:buChar char="ü"/>
            </a:pPr>
            <a:r>
              <a:rPr lang="en-IN" sz="2400" dirty="0"/>
              <a:t>Slot Booking</a:t>
            </a:r>
          </a:p>
          <a:p>
            <a:pPr marL="342900" indent="-342900">
              <a:buFont typeface="Wingdings" panose="05000000000000000000" pitchFamily="2" charset="2"/>
              <a:buChar char="ü"/>
            </a:pPr>
            <a:r>
              <a:rPr lang="en-IN" sz="2400" dirty="0"/>
              <a:t>Booking Confirmation</a:t>
            </a:r>
          </a:p>
          <a:p>
            <a:pPr marL="342900" indent="-342900">
              <a:buFont typeface="Wingdings" panose="05000000000000000000" pitchFamily="2" charset="2"/>
              <a:buChar char="ü"/>
            </a:pPr>
            <a:r>
              <a:rPr lang="en-IN" sz="2400" dirty="0"/>
              <a:t>Admin Dashboard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9860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97BFC-2FDF-73DE-EA71-4EAA5737012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3B202F8-110A-ACCF-B007-F198719781D3}"/>
              </a:ext>
            </a:extLst>
          </p:cNvPr>
          <p:cNvSpPr>
            <a:spLocks noGrp="1"/>
          </p:cNvSpPr>
          <p:nvPr>
            <p:ph type="subTitle" idx="1"/>
          </p:nvPr>
        </p:nvSpPr>
        <p:spPr>
          <a:xfrm>
            <a:off x="0" y="0"/>
            <a:ext cx="9144000" cy="6858000"/>
          </a:xfrm>
        </p:spPr>
        <p:txBody>
          <a:bodyPr>
            <a:normAutofit/>
          </a:body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4" name="Rounded Rectangle 3">
            <a:extLst>
              <a:ext uri="{FF2B5EF4-FFF2-40B4-BE49-F238E27FC236}">
                <a16:creationId xmlns:a16="http://schemas.microsoft.com/office/drawing/2014/main" id="{D404785E-F342-69D1-C4C5-0CDCCFBE48FF}"/>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Future Scope</a:t>
            </a:r>
          </a:p>
        </p:txBody>
      </p:sp>
      <p:sp>
        <p:nvSpPr>
          <p:cNvPr id="5" name="TextBox 4">
            <a:extLst>
              <a:ext uri="{FF2B5EF4-FFF2-40B4-BE49-F238E27FC236}">
                <a16:creationId xmlns:a16="http://schemas.microsoft.com/office/drawing/2014/main" id="{9E3D4132-DE65-3EAE-622A-071E3AEDDEFF}"/>
              </a:ext>
            </a:extLst>
          </p:cNvPr>
          <p:cNvSpPr txBox="1"/>
          <p:nvPr/>
        </p:nvSpPr>
        <p:spPr>
          <a:xfrm>
            <a:off x="914400" y="2209800"/>
            <a:ext cx="7543799" cy="1938992"/>
          </a:xfrm>
          <a:prstGeom prst="rect">
            <a:avLst/>
          </a:prstGeom>
          <a:noFill/>
        </p:spPr>
        <p:txBody>
          <a:bodyPr wrap="square">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Mobile application (Android/iOS)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Online payment integration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GPS-based station navigation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SMS/Email notifications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AI-based queue prediction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0740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76D902D-6E3D-1383-4027-E01896CFD7B3}"/>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4D4DD142-0CBA-0130-8A20-E72B2ADAD4DB}"/>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23134425-BC07-CDFF-7D68-9BB5F5547E62}"/>
              </a:ext>
            </a:extLst>
          </p:cNvPr>
          <p:cNvSpPr txBox="1"/>
          <p:nvPr/>
        </p:nvSpPr>
        <p:spPr>
          <a:xfrm>
            <a:off x="800100" y="1420317"/>
            <a:ext cx="7543799" cy="3477875"/>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Smart CNG Reservation System offers a modern digital solution to reduce queues and improve efficiency at CNG stations. By enabling users to pre-book slots and check real-time availability, the system saves time and enhances convenience. It also helps station operators manage operations more effectively through automation and data tracking. Overall, this project promotes smart, sustainable, and efficient fuel management using web-based technology.</a:t>
            </a:r>
          </a:p>
          <a:p>
            <a:pPr marL="457200" indent="-457200">
              <a:buFont typeface="Arial" panose="020B0604020202020204" pitchFamily="34" charset="0"/>
              <a:buChar char="•"/>
            </a:pPr>
            <a:endParaRPr lang="en-IN" sz="2800" dirty="0"/>
          </a:p>
        </p:txBody>
      </p:sp>
    </p:spTree>
    <p:extLst>
      <p:ext uri="{BB962C8B-B14F-4D97-AF65-F5344CB8AC3E}">
        <p14:creationId xmlns:p14="http://schemas.microsoft.com/office/powerpoint/2010/main" val="3921087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5A97CF4B-F6A4-513F-B7EE-1AADBE201BD5}"/>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1D2E3636-E810-F8EC-914D-9C44875C8776}"/>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B61A88A8-DF7A-4212-9B31-604A496523B1}"/>
              </a:ext>
            </a:extLst>
          </p:cNvPr>
          <p:cNvSpPr txBox="1"/>
          <p:nvPr/>
        </p:nvSpPr>
        <p:spPr>
          <a:xfrm>
            <a:off x="266700" y="838200"/>
            <a:ext cx="8610600" cy="5847755"/>
          </a:xfrm>
          <a:prstGeom prst="rect">
            <a:avLst/>
          </a:prstGeom>
          <a:noFill/>
        </p:spPr>
        <p:txBody>
          <a:bodyPr wrap="square">
            <a:spAutoFit/>
          </a:bodyPr>
          <a:lstStyle/>
          <a:p>
            <a:r>
              <a:rPr lang="en-IN" sz="2200" b="1" dirty="0">
                <a:latin typeface="Times New Roman" panose="02020603050405020304" pitchFamily="18" charset="0"/>
                <a:cs typeface="Times New Roman" panose="02020603050405020304" pitchFamily="18" charset="0"/>
              </a:rPr>
              <a:t>Research Papers</a:t>
            </a: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[1] A. Kumar and R. Singh, “Smart Fuel Queue Management System,” </a:t>
            </a:r>
            <a:r>
              <a:rPr lang="en-IN" sz="2200" i="1" dirty="0">
                <a:latin typeface="Times New Roman" panose="02020603050405020304" pitchFamily="18" charset="0"/>
                <a:cs typeface="Times New Roman" panose="02020603050405020304" pitchFamily="18" charset="0"/>
              </a:rPr>
              <a:t>International Journal of Computer Applications</a:t>
            </a:r>
            <a:r>
              <a:rPr lang="en-IN" sz="2200" dirty="0">
                <a:latin typeface="Times New Roman" panose="02020603050405020304" pitchFamily="18" charset="0"/>
                <a:cs typeface="Times New Roman" panose="02020603050405020304" pitchFamily="18" charset="0"/>
              </a:rPr>
              <a:t>, vol. 120, no. 5, pp. 10–15, 2022.</a:t>
            </a:r>
          </a:p>
          <a:p>
            <a:r>
              <a:rPr lang="en-IN" sz="2200" dirty="0">
                <a:latin typeface="Times New Roman" panose="02020603050405020304" pitchFamily="18" charset="0"/>
                <a:cs typeface="Times New Roman" panose="02020603050405020304" pitchFamily="18" charset="0"/>
              </a:rPr>
              <a:t>[2] S. Patil and M. Joshi, “Web-Based Reservation System Using PHP and MySQL,” </a:t>
            </a:r>
            <a:r>
              <a:rPr lang="en-IN" sz="2200" i="1" dirty="0">
                <a:latin typeface="Times New Roman" panose="02020603050405020304" pitchFamily="18" charset="0"/>
                <a:cs typeface="Times New Roman" panose="02020603050405020304" pitchFamily="18" charset="0"/>
              </a:rPr>
              <a:t>International Journal of Engineering Research and Technology</a:t>
            </a:r>
            <a:r>
              <a:rPr lang="en-IN" sz="2200" dirty="0">
                <a:latin typeface="Times New Roman" panose="02020603050405020304" pitchFamily="18" charset="0"/>
                <a:cs typeface="Times New Roman" panose="02020603050405020304" pitchFamily="18" charset="0"/>
              </a:rPr>
              <a:t>, vol. 8, no. 3, pp. 55–60, 2021.</a:t>
            </a:r>
          </a:p>
          <a:p>
            <a:r>
              <a:rPr lang="en-IN" sz="2200" dirty="0">
                <a:latin typeface="Times New Roman" panose="02020603050405020304" pitchFamily="18" charset="0"/>
                <a:cs typeface="Times New Roman" panose="02020603050405020304" pitchFamily="18" charset="0"/>
              </a:rPr>
              <a:t>[3] R. Sharma and P. Kulkarni, “IoT-Based Smart Fuel Monitoring System,” in </a:t>
            </a:r>
            <a:r>
              <a:rPr lang="en-IN" sz="2200" i="1" dirty="0">
                <a:latin typeface="Times New Roman" panose="02020603050405020304" pitchFamily="18" charset="0"/>
                <a:cs typeface="Times New Roman" panose="02020603050405020304" pitchFamily="18" charset="0"/>
              </a:rPr>
              <a:t>Proceedings of IEEE International Conference on Smart Computing</a:t>
            </a:r>
            <a:r>
              <a:rPr lang="en-IN" sz="2200" dirty="0">
                <a:latin typeface="Times New Roman" panose="02020603050405020304" pitchFamily="18" charset="0"/>
                <a:cs typeface="Times New Roman" panose="02020603050405020304" pitchFamily="18" charset="0"/>
              </a:rPr>
              <a:t>, Pune, India, 2023, pp. 210–214.</a:t>
            </a:r>
          </a:p>
          <a:p>
            <a:r>
              <a:rPr lang="en-IN" sz="2200" dirty="0">
                <a:latin typeface="Times New Roman" panose="02020603050405020304" pitchFamily="18" charset="0"/>
                <a:cs typeface="Times New Roman" panose="02020603050405020304" pitchFamily="18" charset="0"/>
              </a:rPr>
              <a:t>[4] M. Khan and S. Shaikh, “Digital Queue Management System for Public Services,” </a:t>
            </a:r>
            <a:r>
              <a:rPr lang="en-IN" sz="2200" i="1" dirty="0">
                <a:latin typeface="Times New Roman" panose="02020603050405020304" pitchFamily="18" charset="0"/>
                <a:cs typeface="Times New Roman" panose="02020603050405020304" pitchFamily="18" charset="0"/>
              </a:rPr>
              <a:t>International Journal of Advanced Computer Science and Applications</a:t>
            </a:r>
            <a:r>
              <a:rPr lang="en-IN" sz="2200" dirty="0">
                <a:latin typeface="Times New Roman" panose="02020603050405020304" pitchFamily="18" charset="0"/>
                <a:cs typeface="Times New Roman" panose="02020603050405020304" pitchFamily="18" charset="0"/>
              </a:rPr>
              <a:t>, vol. 11, no. 4, pp. 88–92, 2021.</a:t>
            </a:r>
          </a:p>
          <a:p>
            <a:r>
              <a:rPr lang="en-IN" sz="2200" dirty="0">
                <a:latin typeface="Times New Roman" panose="02020603050405020304" pitchFamily="18" charset="0"/>
                <a:cs typeface="Times New Roman" panose="02020603050405020304" pitchFamily="18" charset="0"/>
              </a:rPr>
              <a:t>[5] P. Verma and S. Kulkarni, “Queue Optimization in Fuel Stations Using Smart Technologies,” </a:t>
            </a:r>
            <a:r>
              <a:rPr lang="en-IN" sz="2200" i="1" dirty="0">
                <a:latin typeface="Times New Roman" panose="02020603050405020304" pitchFamily="18" charset="0"/>
                <a:cs typeface="Times New Roman" panose="02020603050405020304" pitchFamily="18" charset="0"/>
              </a:rPr>
              <a:t>International Journal of Advanced Research in Computer Engineering</a:t>
            </a:r>
            <a:r>
              <a:rPr lang="en-IN" sz="2200" dirty="0">
                <a:latin typeface="Times New Roman" panose="02020603050405020304" pitchFamily="18" charset="0"/>
                <a:cs typeface="Times New Roman" panose="02020603050405020304" pitchFamily="18" charset="0"/>
              </a:rPr>
              <a:t>, vol. 9, no. 2, pp. 101–107, 2022.</a:t>
            </a:r>
          </a:p>
        </p:txBody>
      </p:sp>
    </p:spTree>
    <p:extLst>
      <p:ext uri="{BB962C8B-B14F-4D97-AF65-F5344CB8AC3E}">
        <p14:creationId xmlns:p14="http://schemas.microsoft.com/office/powerpoint/2010/main" val="2618954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BB4797-A2C2-94AE-1B32-B1D22ABE7B20}"/>
              </a:ext>
            </a:extLst>
          </p:cNvPr>
          <p:cNvSpPr txBox="1"/>
          <p:nvPr/>
        </p:nvSpPr>
        <p:spPr>
          <a:xfrm>
            <a:off x="381000" y="1066800"/>
            <a:ext cx="8382000" cy="3785652"/>
          </a:xfrm>
          <a:prstGeom prst="rect">
            <a:avLst/>
          </a:prstGeom>
          <a:noFill/>
        </p:spPr>
        <p:txBody>
          <a:bodyPr wrap="square" rtlCol="0">
            <a:spAutoFit/>
          </a:bodyPr>
          <a:lstStyle/>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Technical Documentation</a:t>
            </a: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Oracle Java Documentation </a:t>
            </a: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Apache Tomcat Documentation </a:t>
            </a: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MySQL Documentation </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Web Resources</a:t>
            </a: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W3Schools – HTML, CSS, JavaScript </a:t>
            </a:r>
          </a:p>
          <a:p>
            <a:pPr marL="342900" indent="-342900">
              <a:buFont typeface="Wingdings" panose="05000000000000000000" pitchFamily="2" charset="2"/>
              <a:buChar char="§"/>
            </a:pPr>
            <a:r>
              <a:rPr lang="en-IN" sz="2400" dirty="0" err="1">
                <a:latin typeface="Times New Roman" panose="02020603050405020304" pitchFamily="18" charset="0"/>
                <a:cs typeface="Times New Roman" panose="02020603050405020304" pitchFamily="18" charset="0"/>
              </a:rPr>
              <a:t>GeeksforGeeks</a:t>
            </a:r>
            <a:r>
              <a:rPr lang="en-IN" sz="24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Stack Overflow</a:t>
            </a:r>
          </a:p>
        </p:txBody>
      </p:sp>
      <p:sp>
        <p:nvSpPr>
          <p:cNvPr id="6" name="Rounded Rectangle 3">
            <a:extLst>
              <a:ext uri="{FF2B5EF4-FFF2-40B4-BE49-F238E27FC236}">
                <a16:creationId xmlns:a16="http://schemas.microsoft.com/office/drawing/2014/main" id="{46A3157C-148A-F861-569D-4326FE2DDD30}"/>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4089900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3168F28-380F-9F67-7C6C-FDDD13643AB8}"/>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A2B64695-D2C8-7892-4C52-0175F02B3AFE}"/>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Thank You</a:t>
            </a:r>
          </a:p>
        </p:txBody>
      </p:sp>
      <p:sp>
        <p:nvSpPr>
          <p:cNvPr id="7" name="TextBox 6">
            <a:extLst>
              <a:ext uri="{FF2B5EF4-FFF2-40B4-BE49-F238E27FC236}">
                <a16:creationId xmlns:a16="http://schemas.microsoft.com/office/drawing/2014/main" id="{126E030A-DDC2-7F2D-E76F-55221E40FD31}"/>
              </a:ext>
            </a:extLst>
          </p:cNvPr>
          <p:cNvSpPr txBox="1"/>
          <p:nvPr/>
        </p:nvSpPr>
        <p:spPr>
          <a:xfrm>
            <a:off x="1447800" y="2524668"/>
            <a:ext cx="6705600" cy="1077218"/>
          </a:xfrm>
          <a:prstGeom prst="rect">
            <a:avLst/>
          </a:prstGeom>
          <a:noFill/>
        </p:spPr>
        <p:txBody>
          <a:bodyPr wrap="square">
            <a:spAutoFit/>
          </a:bodyPr>
          <a:lstStyle/>
          <a:p>
            <a:pPr algn="ctr"/>
            <a:r>
              <a:rPr lang="en-IN" sz="3200" dirty="0">
                <a:ln w="0"/>
                <a:solidFill>
                  <a:schemeClr val="accent1"/>
                </a:solidFill>
                <a:effectLst>
                  <a:outerShdw blurRad="50800" dist="38100" dir="16200000" rotWithShape="0">
                    <a:prstClr val="black">
                      <a:alpha val="40000"/>
                    </a:prstClr>
                  </a:outerShdw>
                </a:effectLst>
                <a:latin typeface="Times New Roman" panose="02020603050405020304" pitchFamily="18" charset="0"/>
                <a:cs typeface="Times New Roman" panose="02020603050405020304" pitchFamily="18" charset="0"/>
              </a:rPr>
              <a:t>Thank you for your time and attention.</a:t>
            </a:r>
          </a:p>
          <a:p>
            <a:pPr algn="ctr"/>
            <a:r>
              <a:rPr lang="en-IN" sz="3200" dirty="0">
                <a:ln w="0"/>
                <a:solidFill>
                  <a:schemeClr val="accent1"/>
                </a:solidFill>
                <a:effectLst>
                  <a:outerShdw blurRad="50800" dist="38100" dir="16200000" rotWithShape="0">
                    <a:prstClr val="black">
                      <a:alpha val="40000"/>
                    </a:prstClr>
                  </a:outerShdw>
                </a:effectLst>
                <a:latin typeface="Times New Roman" panose="02020603050405020304" pitchFamily="18" charset="0"/>
                <a:cs typeface="Times New Roman" panose="02020603050405020304" pitchFamily="18" charset="0"/>
              </a:rPr>
              <a:t>Questions &amp; Discussion</a:t>
            </a:r>
          </a:p>
        </p:txBody>
      </p:sp>
    </p:spTree>
    <p:extLst>
      <p:ext uri="{BB962C8B-B14F-4D97-AF65-F5344CB8AC3E}">
        <p14:creationId xmlns:p14="http://schemas.microsoft.com/office/powerpoint/2010/main" val="1618384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403</TotalTime>
  <Words>1463</Words>
  <Application>Microsoft Office PowerPoint</Application>
  <PresentationFormat>On-screen Show (4:3)</PresentationFormat>
  <Paragraphs>287</Paragraphs>
  <Slides>23</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kadambari kale</cp:lastModifiedBy>
  <cp:revision>17</cp:revision>
  <dcterms:created xsi:type="dcterms:W3CDTF">2025-11-11T18:00:53Z</dcterms:created>
  <dcterms:modified xsi:type="dcterms:W3CDTF">2026-07-01T04:22:21Z</dcterms:modified>
</cp:coreProperties>
</file>